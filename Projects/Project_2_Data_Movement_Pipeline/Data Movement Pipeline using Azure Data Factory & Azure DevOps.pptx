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Poppins" panose="00000500000000000000" pitchFamily="2" charset="0"/>
      <p:regular r:id="rId28"/>
    </p:embeddedFont>
    <p:embeddedFont>
      <p:font typeface="Poppins Bold" panose="020B0604020202020204" charset="0"/>
      <p:regular r:id="rId29"/>
    </p:embeddedFont>
    <p:embeddedFont>
      <p:font typeface="Tenor Sans"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2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01622" y="-767350"/>
            <a:ext cx="22013892" cy="12354774"/>
          </a:xfrm>
          <a:custGeom>
            <a:avLst/>
            <a:gdLst/>
            <a:ahLst/>
            <a:cxnLst/>
            <a:rect l="l" t="t" r="r" b="b"/>
            <a:pathLst>
              <a:path w="22013892" h="12354774">
                <a:moveTo>
                  <a:pt x="0" y="0"/>
                </a:moveTo>
                <a:lnTo>
                  <a:pt x="22013891" y="0"/>
                </a:lnTo>
                <a:lnTo>
                  <a:pt x="22013891" y="12354775"/>
                </a:lnTo>
                <a:lnTo>
                  <a:pt x="0" y="12354775"/>
                </a:lnTo>
                <a:lnTo>
                  <a:pt x="0" y="0"/>
                </a:lnTo>
                <a:close/>
              </a:path>
            </a:pathLst>
          </a:custGeom>
          <a:blipFill>
            <a:blip r:embed="rId2"/>
            <a:stretch>
              <a:fillRect t="-9467" b="-9467"/>
            </a:stretch>
          </a:blipFill>
        </p:spPr>
      </p:sp>
      <p:grpSp>
        <p:nvGrpSpPr>
          <p:cNvPr id="3" name="Group 3"/>
          <p:cNvGrpSpPr/>
          <p:nvPr/>
        </p:nvGrpSpPr>
        <p:grpSpPr>
          <a:xfrm>
            <a:off x="-1793400" y="-712357"/>
            <a:ext cx="22453902" cy="11711713"/>
            <a:chOff x="0" y="0"/>
            <a:chExt cx="5913785" cy="3084566"/>
          </a:xfrm>
        </p:grpSpPr>
        <p:sp>
          <p:nvSpPr>
            <p:cNvPr id="4" name="Freeform 4"/>
            <p:cNvSpPr/>
            <p:nvPr/>
          </p:nvSpPr>
          <p:spPr>
            <a:xfrm>
              <a:off x="0" y="0"/>
              <a:ext cx="5913785" cy="3084567"/>
            </a:xfrm>
            <a:custGeom>
              <a:avLst/>
              <a:gdLst/>
              <a:ahLst/>
              <a:cxnLst/>
              <a:rect l="l" t="t" r="r" b="b"/>
              <a:pathLst>
                <a:path w="5913785" h="3084567">
                  <a:moveTo>
                    <a:pt x="0" y="0"/>
                  </a:moveTo>
                  <a:lnTo>
                    <a:pt x="5913785" y="0"/>
                  </a:lnTo>
                  <a:lnTo>
                    <a:pt x="5913785" y="3084567"/>
                  </a:lnTo>
                  <a:lnTo>
                    <a:pt x="0" y="3084567"/>
                  </a:lnTo>
                  <a:close/>
                </a:path>
              </a:pathLst>
            </a:custGeom>
            <a:solidFill>
              <a:srgbClr val="106861">
                <a:alpha val="28627"/>
              </a:srgbClr>
            </a:solidFill>
          </p:spPr>
        </p:sp>
        <p:sp>
          <p:nvSpPr>
            <p:cNvPr id="5" name="TextBox 5"/>
            <p:cNvSpPr txBox="1"/>
            <p:nvPr/>
          </p:nvSpPr>
          <p:spPr>
            <a:xfrm>
              <a:off x="0" y="-38100"/>
              <a:ext cx="5913785" cy="3122666"/>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489013" y="2699764"/>
            <a:ext cx="12832621" cy="5211322"/>
          </a:xfrm>
          <a:prstGeom prst="rect">
            <a:avLst/>
          </a:prstGeom>
        </p:spPr>
        <p:txBody>
          <a:bodyPr lIns="0" tIns="0" rIns="0" bIns="0" rtlCol="0" anchor="t">
            <a:spAutoFit/>
          </a:bodyPr>
          <a:lstStyle/>
          <a:p>
            <a:pPr algn="ctr">
              <a:lnSpc>
                <a:spcPts val="8066"/>
              </a:lnSpc>
            </a:pPr>
            <a:r>
              <a:rPr lang="en-US" sz="9603" spc="-518">
                <a:solidFill>
                  <a:srgbClr val="1C2120"/>
                </a:solidFill>
                <a:latin typeface="Tenor Sans"/>
                <a:ea typeface="Tenor Sans"/>
                <a:cs typeface="Tenor Sans"/>
                <a:sym typeface="Tenor Sans"/>
              </a:rPr>
              <a:t>DATA MOVEMENT PIPELINE USING AZURE DATA FACTORY &amp; AZURE DEVOPS</a:t>
            </a:r>
          </a:p>
        </p:txBody>
      </p:sp>
      <p:sp>
        <p:nvSpPr>
          <p:cNvPr id="12" name="TextBox 6">
            <a:extLst>
              <a:ext uri="{FF2B5EF4-FFF2-40B4-BE49-F238E27FC236}">
                <a16:creationId xmlns:a16="http://schemas.microsoft.com/office/drawing/2014/main" id="{7A5585DC-9FFB-9944-5347-49964976B262}"/>
              </a:ext>
            </a:extLst>
          </p:cNvPr>
          <p:cNvSpPr txBox="1"/>
          <p:nvPr/>
        </p:nvSpPr>
        <p:spPr>
          <a:xfrm>
            <a:off x="11430000" y="8568503"/>
            <a:ext cx="6617965" cy="886718"/>
          </a:xfrm>
          <a:prstGeom prst="rect">
            <a:avLst/>
          </a:prstGeom>
        </p:spPr>
        <p:txBody>
          <a:bodyPr lIns="0" tIns="0" rIns="0" bIns="0" rtlCol="0" anchor="t">
            <a:spAutoFit/>
          </a:bodyPr>
          <a:lstStyle/>
          <a:p>
            <a:pPr>
              <a:lnSpc>
                <a:spcPts val="3445"/>
              </a:lnSpc>
            </a:pPr>
            <a:r>
              <a:rPr lang="en-US" sz="3445" spc="-68" dirty="0">
                <a:solidFill>
                  <a:srgbClr val="1C2120"/>
                </a:solidFill>
                <a:latin typeface="Poppins"/>
                <a:ea typeface="Poppins"/>
                <a:cs typeface="Poppins"/>
                <a:sym typeface="Poppins"/>
              </a:rPr>
              <a:t>Presented By:</a:t>
            </a:r>
          </a:p>
          <a:p>
            <a:pPr>
              <a:lnSpc>
                <a:spcPts val="3445"/>
              </a:lnSpc>
            </a:pPr>
            <a:r>
              <a:rPr lang="en-US" sz="3445" spc="-68" dirty="0">
                <a:solidFill>
                  <a:srgbClr val="1C2120"/>
                </a:solidFill>
                <a:latin typeface="Poppins"/>
                <a:ea typeface="Poppins"/>
                <a:cs typeface="Poppins"/>
                <a:sym typeface="Poppins"/>
              </a:rPr>
              <a:t>N S Yogeshwar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123894"/>
            <a:ext cx="8011990" cy="2152401"/>
          </a:xfrm>
          <a:prstGeom prst="rect">
            <a:avLst/>
          </a:prstGeom>
        </p:spPr>
        <p:txBody>
          <a:bodyPr lIns="0" tIns="0" rIns="0" bIns="0" rtlCol="0" anchor="t">
            <a:spAutoFit/>
          </a:bodyPr>
          <a:lstStyle/>
          <a:p>
            <a:pPr algn="l">
              <a:lnSpc>
                <a:spcPts val="7935"/>
              </a:lnSpc>
            </a:pPr>
            <a:r>
              <a:rPr lang="en-US" sz="8180" b="1">
                <a:solidFill>
                  <a:srgbClr val="1C2120"/>
                </a:solidFill>
                <a:latin typeface="Poppins Bold"/>
                <a:ea typeface="Poppins Bold"/>
                <a:cs typeface="Poppins Bold"/>
                <a:sym typeface="Poppins Bold"/>
              </a:rPr>
              <a:t>Project Statement</a:t>
            </a:r>
          </a:p>
        </p:txBody>
      </p:sp>
      <p:grpSp>
        <p:nvGrpSpPr>
          <p:cNvPr id="3" name="Group 3"/>
          <p:cNvGrpSpPr/>
          <p:nvPr/>
        </p:nvGrpSpPr>
        <p:grpSpPr>
          <a:xfrm>
            <a:off x="0" y="0"/>
            <a:ext cx="18288000" cy="4491629"/>
            <a:chOff x="0" y="0"/>
            <a:chExt cx="4816593" cy="1182980"/>
          </a:xfrm>
        </p:grpSpPr>
        <p:sp>
          <p:nvSpPr>
            <p:cNvPr id="4" name="Freeform 4"/>
            <p:cNvSpPr/>
            <p:nvPr/>
          </p:nvSpPr>
          <p:spPr>
            <a:xfrm>
              <a:off x="0" y="0"/>
              <a:ext cx="4816592" cy="1182980"/>
            </a:xfrm>
            <a:custGeom>
              <a:avLst/>
              <a:gdLst/>
              <a:ahLst/>
              <a:cxnLst/>
              <a:rect l="l" t="t" r="r" b="b"/>
              <a:pathLst>
                <a:path w="4816592" h="1182980">
                  <a:moveTo>
                    <a:pt x="0" y="0"/>
                  </a:moveTo>
                  <a:lnTo>
                    <a:pt x="4816592" y="0"/>
                  </a:lnTo>
                  <a:lnTo>
                    <a:pt x="4816592" y="1182980"/>
                  </a:lnTo>
                  <a:lnTo>
                    <a:pt x="0" y="1182980"/>
                  </a:lnTo>
                  <a:close/>
                </a:path>
              </a:pathLst>
            </a:custGeom>
            <a:solidFill>
              <a:srgbClr val="106861"/>
            </a:solidFill>
            <a:ln cap="sq">
              <a:noFill/>
              <a:prstDash val="solid"/>
              <a:miter/>
            </a:ln>
          </p:spPr>
        </p:sp>
        <p:sp>
          <p:nvSpPr>
            <p:cNvPr id="5" name="TextBox 5"/>
            <p:cNvSpPr txBox="1"/>
            <p:nvPr/>
          </p:nvSpPr>
          <p:spPr>
            <a:xfrm>
              <a:off x="0" y="-38100"/>
              <a:ext cx="4816593" cy="122108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Freeform 6"/>
          <p:cNvSpPr/>
          <p:nvPr/>
        </p:nvSpPr>
        <p:spPr>
          <a:xfrm>
            <a:off x="0" y="0"/>
            <a:ext cx="18288000" cy="4491629"/>
          </a:xfrm>
          <a:custGeom>
            <a:avLst/>
            <a:gdLst/>
            <a:ahLst/>
            <a:cxnLst/>
            <a:rect l="l" t="t" r="r" b="b"/>
            <a:pathLst>
              <a:path w="18288000" h="4491629">
                <a:moveTo>
                  <a:pt x="0" y="0"/>
                </a:moveTo>
                <a:lnTo>
                  <a:pt x="18288000" y="0"/>
                </a:lnTo>
                <a:lnTo>
                  <a:pt x="18288000" y="4491629"/>
                </a:lnTo>
                <a:lnTo>
                  <a:pt x="0" y="4491629"/>
                </a:lnTo>
                <a:lnTo>
                  <a:pt x="0" y="0"/>
                </a:lnTo>
                <a:close/>
              </a:path>
            </a:pathLst>
          </a:custGeom>
          <a:blipFill>
            <a:blip r:embed="rId2">
              <a:alphaModFix amt="59000"/>
            </a:blip>
            <a:stretch>
              <a:fillRect t="-85634" b="-85634"/>
            </a:stretch>
          </a:blipFill>
          <a:ln cap="sq">
            <a:noFill/>
            <a:prstDash val="solid"/>
            <a:miter/>
          </a:ln>
        </p:spPr>
      </p:sp>
      <p:sp>
        <p:nvSpPr>
          <p:cNvPr id="7" name="TextBox 7"/>
          <p:cNvSpPr txBox="1"/>
          <p:nvPr/>
        </p:nvSpPr>
        <p:spPr>
          <a:xfrm>
            <a:off x="3558350" y="4169039"/>
            <a:ext cx="11150794" cy="2504777"/>
          </a:xfrm>
          <a:prstGeom prst="rect">
            <a:avLst/>
          </a:prstGeom>
        </p:spPr>
        <p:txBody>
          <a:bodyPr lIns="0" tIns="0" rIns="0" bIns="0" rtlCol="0" anchor="t">
            <a:spAutoFit/>
          </a:bodyPr>
          <a:lstStyle/>
          <a:p>
            <a:pPr algn="ctr">
              <a:lnSpc>
                <a:spcPts val="3950"/>
              </a:lnSpc>
            </a:pPr>
            <a:r>
              <a:rPr lang="en-US" sz="2469">
                <a:solidFill>
                  <a:srgbClr val="FFFFFF"/>
                </a:solidFill>
                <a:latin typeface="Poppins"/>
                <a:ea typeface="Poppins"/>
                <a:cs typeface="Poppins"/>
                <a:sym typeface="Poppins"/>
              </a:rPr>
              <a:t>Lorem ipsum dolor sit amet, consectetur adipiscing elit. Mauris porttitor nisi ut arcu sodales elementum. Fusce et sem ligula. Fusce venenatis vitae augue id sodales. Suspendisse non tincidunt lectus. Aliquam et lacus porta, finibus felis nec, pulvinar felis. In elementum massa ac consectetur semper. Mauris luctus eros diam, quis semper.</a:t>
            </a:r>
          </a:p>
        </p:txBody>
      </p:sp>
      <p:sp>
        <p:nvSpPr>
          <p:cNvPr id="8" name="TextBox 8"/>
          <p:cNvSpPr txBox="1"/>
          <p:nvPr/>
        </p:nvSpPr>
        <p:spPr>
          <a:xfrm>
            <a:off x="5679731" y="2712442"/>
            <a:ext cx="6928538" cy="1234938"/>
          </a:xfrm>
          <a:prstGeom prst="rect">
            <a:avLst/>
          </a:prstGeom>
        </p:spPr>
        <p:txBody>
          <a:bodyPr lIns="0" tIns="0" rIns="0" bIns="0" rtlCol="0" anchor="t">
            <a:spAutoFit/>
          </a:bodyPr>
          <a:lstStyle/>
          <a:p>
            <a:pPr marL="0" lvl="0" indent="0" algn="ctr">
              <a:lnSpc>
                <a:spcPts val="9582"/>
              </a:lnSpc>
              <a:spcBef>
                <a:spcPct val="0"/>
              </a:spcBef>
            </a:pPr>
            <a:r>
              <a:rPr lang="en-US" sz="6844" b="1" spc="-136">
                <a:solidFill>
                  <a:srgbClr val="FDFBFB"/>
                </a:solidFill>
                <a:latin typeface="Poppins Bold"/>
                <a:ea typeface="Poppins Bold"/>
                <a:cs typeface="Poppins Bold"/>
                <a:sym typeface="Poppins Bold"/>
              </a:rPr>
              <a:t>Introduction</a:t>
            </a:r>
          </a:p>
        </p:txBody>
      </p:sp>
      <p:grpSp>
        <p:nvGrpSpPr>
          <p:cNvPr id="9" name="Group 9"/>
          <p:cNvGrpSpPr/>
          <p:nvPr/>
        </p:nvGrpSpPr>
        <p:grpSpPr>
          <a:xfrm>
            <a:off x="16113923" y="9258300"/>
            <a:ext cx="327444" cy="32744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2" name="Group 12"/>
          <p:cNvGrpSpPr/>
          <p:nvPr/>
        </p:nvGrpSpPr>
        <p:grpSpPr>
          <a:xfrm>
            <a:off x="15648108" y="9258300"/>
            <a:ext cx="327444" cy="32744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5" name="Group 15"/>
          <p:cNvGrpSpPr/>
          <p:nvPr/>
        </p:nvGrpSpPr>
        <p:grpSpPr>
          <a:xfrm>
            <a:off x="15161723" y="9258300"/>
            <a:ext cx="327444" cy="32744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8" name="Group 18"/>
          <p:cNvGrpSpPr/>
          <p:nvPr/>
        </p:nvGrpSpPr>
        <p:grpSpPr>
          <a:xfrm>
            <a:off x="0" y="0"/>
            <a:ext cx="18288000" cy="4491629"/>
            <a:chOff x="0" y="0"/>
            <a:chExt cx="4816593" cy="1182980"/>
          </a:xfrm>
        </p:grpSpPr>
        <p:sp>
          <p:nvSpPr>
            <p:cNvPr id="19" name="Freeform 19"/>
            <p:cNvSpPr/>
            <p:nvPr/>
          </p:nvSpPr>
          <p:spPr>
            <a:xfrm>
              <a:off x="0" y="0"/>
              <a:ext cx="4816592" cy="1182980"/>
            </a:xfrm>
            <a:custGeom>
              <a:avLst/>
              <a:gdLst/>
              <a:ahLst/>
              <a:cxnLst/>
              <a:rect l="l" t="t" r="r" b="b"/>
              <a:pathLst>
                <a:path w="4816592" h="1182980">
                  <a:moveTo>
                    <a:pt x="0" y="0"/>
                  </a:moveTo>
                  <a:lnTo>
                    <a:pt x="4816592" y="0"/>
                  </a:lnTo>
                  <a:lnTo>
                    <a:pt x="4816592" y="1182980"/>
                  </a:lnTo>
                  <a:lnTo>
                    <a:pt x="0" y="1182980"/>
                  </a:lnTo>
                  <a:close/>
                </a:path>
              </a:pathLst>
            </a:custGeom>
            <a:solidFill>
              <a:srgbClr val="106861"/>
            </a:solidFill>
            <a:ln cap="sq">
              <a:noFill/>
              <a:prstDash val="solid"/>
              <a:miter/>
            </a:ln>
          </p:spPr>
        </p:sp>
        <p:sp>
          <p:nvSpPr>
            <p:cNvPr id="20" name="TextBox 20"/>
            <p:cNvSpPr txBox="1"/>
            <p:nvPr/>
          </p:nvSpPr>
          <p:spPr>
            <a:xfrm>
              <a:off x="0" y="-38100"/>
              <a:ext cx="4816593" cy="122108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21" name="Freeform 21"/>
          <p:cNvSpPr/>
          <p:nvPr/>
        </p:nvSpPr>
        <p:spPr>
          <a:xfrm>
            <a:off x="0" y="0"/>
            <a:ext cx="18288000" cy="4491629"/>
          </a:xfrm>
          <a:custGeom>
            <a:avLst/>
            <a:gdLst/>
            <a:ahLst/>
            <a:cxnLst/>
            <a:rect l="l" t="t" r="r" b="b"/>
            <a:pathLst>
              <a:path w="18288000" h="4491629">
                <a:moveTo>
                  <a:pt x="0" y="0"/>
                </a:moveTo>
                <a:lnTo>
                  <a:pt x="18288000" y="0"/>
                </a:lnTo>
                <a:lnTo>
                  <a:pt x="18288000" y="4491629"/>
                </a:lnTo>
                <a:lnTo>
                  <a:pt x="0" y="4491629"/>
                </a:lnTo>
                <a:lnTo>
                  <a:pt x="0" y="0"/>
                </a:lnTo>
                <a:close/>
              </a:path>
            </a:pathLst>
          </a:custGeom>
          <a:blipFill>
            <a:blip r:embed="rId2">
              <a:alphaModFix amt="59000"/>
            </a:blip>
            <a:stretch>
              <a:fillRect t="-85634" b="-85634"/>
            </a:stretch>
          </a:blipFill>
          <a:ln cap="sq">
            <a:noFill/>
            <a:prstDash val="solid"/>
            <a:miter/>
          </a:ln>
        </p:spPr>
      </p:sp>
      <p:sp>
        <p:nvSpPr>
          <p:cNvPr id="22" name="TextBox 22"/>
          <p:cNvSpPr txBox="1"/>
          <p:nvPr/>
        </p:nvSpPr>
        <p:spPr>
          <a:xfrm>
            <a:off x="5679731" y="2712442"/>
            <a:ext cx="6928538" cy="1234938"/>
          </a:xfrm>
          <a:prstGeom prst="rect">
            <a:avLst/>
          </a:prstGeom>
        </p:spPr>
        <p:txBody>
          <a:bodyPr lIns="0" tIns="0" rIns="0" bIns="0" rtlCol="0" anchor="t">
            <a:spAutoFit/>
          </a:bodyPr>
          <a:lstStyle/>
          <a:p>
            <a:pPr marL="0" lvl="0" indent="0" algn="ctr">
              <a:lnSpc>
                <a:spcPts val="9582"/>
              </a:lnSpc>
              <a:spcBef>
                <a:spcPct val="0"/>
              </a:spcBef>
            </a:pPr>
            <a:r>
              <a:rPr lang="en-US" sz="6844" b="1" spc="-136">
                <a:solidFill>
                  <a:srgbClr val="FDFBFB"/>
                </a:solidFill>
                <a:latin typeface="Poppins Bold"/>
                <a:ea typeface="Poppins Bold"/>
                <a:cs typeface="Poppins Bold"/>
                <a:sym typeface="Poppins Bold"/>
              </a:rPr>
              <a:t>Introduction</a:t>
            </a:r>
          </a:p>
        </p:txBody>
      </p:sp>
      <p:grpSp>
        <p:nvGrpSpPr>
          <p:cNvPr id="23" name="Group 23"/>
          <p:cNvGrpSpPr/>
          <p:nvPr/>
        </p:nvGrpSpPr>
        <p:grpSpPr>
          <a:xfrm>
            <a:off x="16113923" y="9258300"/>
            <a:ext cx="327444" cy="32744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25" name="TextBox 25"/>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26" name="Group 26"/>
          <p:cNvGrpSpPr/>
          <p:nvPr/>
        </p:nvGrpSpPr>
        <p:grpSpPr>
          <a:xfrm>
            <a:off x="15648108" y="9258300"/>
            <a:ext cx="327444" cy="32744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28" name="TextBox 28"/>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29" name="Group 29"/>
          <p:cNvGrpSpPr/>
          <p:nvPr/>
        </p:nvGrpSpPr>
        <p:grpSpPr>
          <a:xfrm>
            <a:off x="15161723" y="9258300"/>
            <a:ext cx="327444" cy="327444"/>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31" name="TextBox 31"/>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32" name="Group 32"/>
          <p:cNvGrpSpPr/>
          <p:nvPr/>
        </p:nvGrpSpPr>
        <p:grpSpPr>
          <a:xfrm>
            <a:off x="0" y="0"/>
            <a:ext cx="18288000" cy="4491629"/>
            <a:chOff x="0" y="0"/>
            <a:chExt cx="4816593" cy="1182980"/>
          </a:xfrm>
        </p:grpSpPr>
        <p:sp>
          <p:nvSpPr>
            <p:cNvPr id="33" name="Freeform 33"/>
            <p:cNvSpPr/>
            <p:nvPr/>
          </p:nvSpPr>
          <p:spPr>
            <a:xfrm>
              <a:off x="0" y="0"/>
              <a:ext cx="4816592" cy="1182980"/>
            </a:xfrm>
            <a:custGeom>
              <a:avLst/>
              <a:gdLst/>
              <a:ahLst/>
              <a:cxnLst/>
              <a:rect l="l" t="t" r="r" b="b"/>
              <a:pathLst>
                <a:path w="4816592" h="1182980">
                  <a:moveTo>
                    <a:pt x="0" y="0"/>
                  </a:moveTo>
                  <a:lnTo>
                    <a:pt x="4816592" y="0"/>
                  </a:lnTo>
                  <a:lnTo>
                    <a:pt x="4816592" y="1182980"/>
                  </a:lnTo>
                  <a:lnTo>
                    <a:pt x="0" y="1182980"/>
                  </a:lnTo>
                  <a:close/>
                </a:path>
              </a:pathLst>
            </a:custGeom>
            <a:solidFill>
              <a:srgbClr val="106861"/>
            </a:solidFill>
            <a:ln cap="sq">
              <a:noFill/>
              <a:prstDash val="solid"/>
              <a:miter/>
            </a:ln>
          </p:spPr>
        </p:sp>
        <p:sp>
          <p:nvSpPr>
            <p:cNvPr id="34" name="TextBox 34"/>
            <p:cNvSpPr txBox="1"/>
            <p:nvPr/>
          </p:nvSpPr>
          <p:spPr>
            <a:xfrm>
              <a:off x="0" y="-38100"/>
              <a:ext cx="4816593" cy="122108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35" name="Freeform 35"/>
          <p:cNvSpPr/>
          <p:nvPr/>
        </p:nvSpPr>
        <p:spPr>
          <a:xfrm>
            <a:off x="0" y="14781"/>
            <a:ext cx="18288000" cy="4476848"/>
          </a:xfrm>
          <a:custGeom>
            <a:avLst/>
            <a:gdLst/>
            <a:ahLst/>
            <a:cxnLst/>
            <a:rect l="l" t="t" r="r" b="b"/>
            <a:pathLst>
              <a:path w="18288000" h="4476848">
                <a:moveTo>
                  <a:pt x="0" y="0"/>
                </a:moveTo>
                <a:lnTo>
                  <a:pt x="18288000" y="0"/>
                </a:lnTo>
                <a:lnTo>
                  <a:pt x="18288000" y="4476848"/>
                </a:lnTo>
                <a:lnTo>
                  <a:pt x="0" y="4476848"/>
                </a:lnTo>
                <a:lnTo>
                  <a:pt x="0" y="0"/>
                </a:lnTo>
                <a:close/>
              </a:path>
            </a:pathLst>
          </a:custGeom>
          <a:blipFill>
            <a:blip r:embed="rId3">
              <a:alphaModFix amt="70000"/>
            </a:blip>
            <a:stretch>
              <a:fillRect t="-132930" b="-39233"/>
            </a:stretch>
          </a:blipFill>
        </p:spPr>
      </p:sp>
      <p:grpSp>
        <p:nvGrpSpPr>
          <p:cNvPr id="36" name="Group 36"/>
          <p:cNvGrpSpPr/>
          <p:nvPr/>
        </p:nvGrpSpPr>
        <p:grpSpPr>
          <a:xfrm>
            <a:off x="16113923" y="9258300"/>
            <a:ext cx="327444" cy="327444"/>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38" name="TextBox 38"/>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39" name="Group 39"/>
          <p:cNvGrpSpPr/>
          <p:nvPr/>
        </p:nvGrpSpPr>
        <p:grpSpPr>
          <a:xfrm>
            <a:off x="15648108" y="9258300"/>
            <a:ext cx="327444" cy="327444"/>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41" name="TextBox 41"/>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42" name="Group 42"/>
          <p:cNvGrpSpPr/>
          <p:nvPr/>
        </p:nvGrpSpPr>
        <p:grpSpPr>
          <a:xfrm>
            <a:off x="15161723" y="9258300"/>
            <a:ext cx="327444" cy="327444"/>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44" name="TextBox 44"/>
            <p:cNvSpPr txBox="1"/>
            <p:nvPr/>
          </p:nvSpPr>
          <p:spPr>
            <a:xfrm>
              <a:off x="76200" y="38100"/>
              <a:ext cx="660400" cy="69850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45" name="Group 45"/>
          <p:cNvGrpSpPr/>
          <p:nvPr/>
        </p:nvGrpSpPr>
        <p:grpSpPr>
          <a:xfrm>
            <a:off x="1913186" y="2417849"/>
            <a:ext cx="14255008" cy="5451302"/>
            <a:chOff x="0" y="0"/>
            <a:chExt cx="3754405" cy="1435734"/>
          </a:xfrm>
        </p:grpSpPr>
        <p:sp>
          <p:nvSpPr>
            <p:cNvPr id="46" name="Freeform 46"/>
            <p:cNvSpPr/>
            <p:nvPr/>
          </p:nvSpPr>
          <p:spPr>
            <a:xfrm>
              <a:off x="0" y="0"/>
              <a:ext cx="3754405" cy="1435734"/>
            </a:xfrm>
            <a:custGeom>
              <a:avLst/>
              <a:gdLst/>
              <a:ahLst/>
              <a:cxnLst/>
              <a:rect l="l" t="t" r="r" b="b"/>
              <a:pathLst>
                <a:path w="3754405" h="1435734">
                  <a:moveTo>
                    <a:pt x="13578" y="0"/>
                  </a:moveTo>
                  <a:lnTo>
                    <a:pt x="3740828" y="0"/>
                  </a:lnTo>
                  <a:cubicBezTo>
                    <a:pt x="3748327" y="0"/>
                    <a:pt x="3754405" y="6079"/>
                    <a:pt x="3754405" y="13578"/>
                  </a:cubicBezTo>
                  <a:lnTo>
                    <a:pt x="3754405" y="1422156"/>
                  </a:lnTo>
                  <a:cubicBezTo>
                    <a:pt x="3754405" y="1425757"/>
                    <a:pt x="3752975" y="1429211"/>
                    <a:pt x="3750428" y="1431757"/>
                  </a:cubicBezTo>
                  <a:cubicBezTo>
                    <a:pt x="3747882" y="1434303"/>
                    <a:pt x="3744429" y="1435734"/>
                    <a:pt x="3740828" y="1435734"/>
                  </a:cubicBezTo>
                  <a:lnTo>
                    <a:pt x="13578" y="1435734"/>
                  </a:lnTo>
                  <a:cubicBezTo>
                    <a:pt x="9977" y="1435734"/>
                    <a:pt x="6523" y="1434303"/>
                    <a:pt x="3977" y="1431757"/>
                  </a:cubicBezTo>
                  <a:cubicBezTo>
                    <a:pt x="1430" y="1429211"/>
                    <a:pt x="0" y="1425757"/>
                    <a:pt x="0" y="1422156"/>
                  </a:cubicBezTo>
                  <a:lnTo>
                    <a:pt x="0" y="13578"/>
                  </a:lnTo>
                  <a:cubicBezTo>
                    <a:pt x="0" y="9977"/>
                    <a:pt x="1430" y="6523"/>
                    <a:pt x="3977" y="3977"/>
                  </a:cubicBezTo>
                  <a:cubicBezTo>
                    <a:pt x="6523" y="1430"/>
                    <a:pt x="9977" y="0"/>
                    <a:pt x="13578" y="0"/>
                  </a:cubicBezTo>
                  <a:close/>
                </a:path>
              </a:pathLst>
            </a:custGeom>
            <a:solidFill>
              <a:srgbClr val="106861"/>
            </a:solidFill>
            <a:ln cap="rnd">
              <a:noFill/>
              <a:prstDash val="solid"/>
              <a:round/>
            </a:ln>
          </p:spPr>
        </p:sp>
        <p:sp>
          <p:nvSpPr>
            <p:cNvPr id="47" name="TextBox 47"/>
            <p:cNvSpPr txBox="1"/>
            <p:nvPr/>
          </p:nvSpPr>
          <p:spPr>
            <a:xfrm>
              <a:off x="0" y="-38100"/>
              <a:ext cx="3754405" cy="1473834"/>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48" name="TextBox 48"/>
          <p:cNvSpPr txBox="1"/>
          <p:nvPr/>
        </p:nvSpPr>
        <p:spPr>
          <a:xfrm>
            <a:off x="2532148" y="3996080"/>
            <a:ext cx="12957019" cy="3184525"/>
          </a:xfrm>
          <a:prstGeom prst="rect">
            <a:avLst/>
          </a:prstGeom>
        </p:spPr>
        <p:txBody>
          <a:bodyPr lIns="0" tIns="0" rIns="0" bIns="0" rtlCol="0" anchor="t">
            <a:spAutoFit/>
          </a:bodyPr>
          <a:lstStyle/>
          <a:p>
            <a:pPr algn="just">
              <a:lnSpc>
                <a:spcPts val="4249"/>
              </a:lnSpc>
            </a:pPr>
            <a:r>
              <a:rPr lang="en-US" sz="2499">
                <a:solidFill>
                  <a:srgbClr val="FFFFFF"/>
                </a:solidFill>
                <a:latin typeface="Poppins"/>
                <a:ea typeface="Poppins"/>
                <a:cs typeface="Poppins"/>
                <a:sym typeface="Poppins"/>
              </a:rPr>
              <a:t>This project builds a data movement pipeline using Azure Data Factory (ADF) to transfer data from a simulated on-premises Azure SQL Database to Azure Synapse Analytics for analytics and reporting. It ensures efficient data ingestion, transformation, and loading within a cloud environment. Azure DevOps is used for version control and CI/CD, enabling automated updates and deployments, resulting in a scalable and maintainable data engineering solution.</a:t>
            </a:r>
          </a:p>
        </p:txBody>
      </p:sp>
      <p:sp>
        <p:nvSpPr>
          <p:cNvPr id="49" name="TextBox 49"/>
          <p:cNvSpPr txBox="1"/>
          <p:nvPr/>
        </p:nvSpPr>
        <p:spPr>
          <a:xfrm>
            <a:off x="5559862" y="2721967"/>
            <a:ext cx="7168277" cy="1177925"/>
          </a:xfrm>
          <a:prstGeom prst="rect">
            <a:avLst/>
          </a:prstGeom>
        </p:spPr>
        <p:txBody>
          <a:bodyPr lIns="0" tIns="0" rIns="0" bIns="0" rtlCol="0" anchor="t">
            <a:spAutoFit/>
          </a:bodyPr>
          <a:lstStyle/>
          <a:p>
            <a:pPr marL="0" lvl="0" indent="0" algn="ctr">
              <a:lnSpc>
                <a:spcPts val="9100"/>
              </a:lnSpc>
              <a:spcBef>
                <a:spcPct val="0"/>
              </a:spcBef>
            </a:pPr>
            <a:r>
              <a:rPr lang="en-US" sz="6500" spc="-130">
                <a:solidFill>
                  <a:srgbClr val="FDFBFB"/>
                </a:solidFill>
                <a:latin typeface="Poppins"/>
                <a:ea typeface="Poppins"/>
                <a:cs typeface="Poppins"/>
                <a:sym typeface="Poppins"/>
              </a:rPr>
              <a:t>Project Statement </a:t>
            </a: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83134" y="1372970"/>
            <a:ext cx="6830714" cy="2372256"/>
            <a:chOff x="0" y="0"/>
            <a:chExt cx="2286638" cy="794132"/>
          </a:xfrm>
        </p:grpSpPr>
        <p:sp>
          <p:nvSpPr>
            <p:cNvPr id="3" name="Freeform 3"/>
            <p:cNvSpPr/>
            <p:nvPr/>
          </p:nvSpPr>
          <p:spPr>
            <a:xfrm>
              <a:off x="0" y="0"/>
              <a:ext cx="2286638" cy="794132"/>
            </a:xfrm>
            <a:custGeom>
              <a:avLst/>
              <a:gdLst/>
              <a:ahLst/>
              <a:cxnLst/>
              <a:rect l="l" t="t" r="r" b="b"/>
              <a:pathLst>
                <a:path w="2286638" h="794132">
                  <a:moveTo>
                    <a:pt x="22668" y="0"/>
                  </a:moveTo>
                  <a:lnTo>
                    <a:pt x="2263970" y="0"/>
                  </a:lnTo>
                  <a:cubicBezTo>
                    <a:pt x="2276489" y="0"/>
                    <a:pt x="2286638" y="10149"/>
                    <a:pt x="2286638" y="22668"/>
                  </a:cubicBezTo>
                  <a:lnTo>
                    <a:pt x="2286638" y="771464"/>
                  </a:lnTo>
                  <a:cubicBezTo>
                    <a:pt x="2286638" y="777476"/>
                    <a:pt x="2284250" y="783242"/>
                    <a:pt x="2279998" y="787493"/>
                  </a:cubicBezTo>
                  <a:cubicBezTo>
                    <a:pt x="2275747" y="791744"/>
                    <a:pt x="2269982" y="794132"/>
                    <a:pt x="2263970" y="794132"/>
                  </a:cubicBezTo>
                  <a:lnTo>
                    <a:pt x="22668" y="794132"/>
                  </a:lnTo>
                  <a:cubicBezTo>
                    <a:pt x="16656" y="794132"/>
                    <a:pt x="10890" y="791744"/>
                    <a:pt x="6639" y="787493"/>
                  </a:cubicBezTo>
                  <a:cubicBezTo>
                    <a:pt x="2388" y="783242"/>
                    <a:pt x="0" y="777476"/>
                    <a:pt x="0" y="771464"/>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id="4" name="TextBox 4"/>
            <p:cNvSpPr txBox="1"/>
            <p:nvPr/>
          </p:nvSpPr>
          <p:spPr>
            <a:xfrm>
              <a:off x="0" y="85725"/>
              <a:ext cx="2286638" cy="708407"/>
            </a:xfrm>
            <a:prstGeom prst="rect">
              <a:avLst/>
            </a:prstGeom>
          </p:spPr>
          <p:txBody>
            <a:bodyPr lIns="50800" tIns="50800" rIns="50800" bIns="50800" rtlCol="0" anchor="ctr"/>
            <a:lstStyle/>
            <a:p>
              <a:pPr algn="ctr">
                <a:lnSpc>
                  <a:spcPts val="1925"/>
                </a:lnSpc>
              </a:pPr>
              <a:endParaRPr/>
            </a:p>
          </p:txBody>
        </p:sp>
      </p:grpSp>
      <p:grpSp>
        <p:nvGrpSpPr>
          <p:cNvPr id="5" name="Group 5"/>
          <p:cNvGrpSpPr/>
          <p:nvPr/>
        </p:nvGrpSpPr>
        <p:grpSpPr>
          <a:xfrm>
            <a:off x="10083134" y="4079914"/>
            <a:ext cx="6830714" cy="1787206"/>
            <a:chOff x="0" y="0"/>
            <a:chExt cx="2286638" cy="598282"/>
          </a:xfrm>
        </p:grpSpPr>
        <p:sp>
          <p:nvSpPr>
            <p:cNvPr id="6" name="Freeform 6"/>
            <p:cNvSpPr/>
            <p:nvPr/>
          </p:nvSpPr>
          <p:spPr>
            <a:xfrm>
              <a:off x="0" y="0"/>
              <a:ext cx="2286638" cy="598282"/>
            </a:xfrm>
            <a:custGeom>
              <a:avLst/>
              <a:gdLst/>
              <a:ahLst/>
              <a:cxnLst/>
              <a:rect l="l" t="t" r="r" b="b"/>
              <a:pathLst>
                <a:path w="2286638" h="598282">
                  <a:moveTo>
                    <a:pt x="22668" y="0"/>
                  </a:moveTo>
                  <a:lnTo>
                    <a:pt x="2263970" y="0"/>
                  </a:lnTo>
                  <a:cubicBezTo>
                    <a:pt x="2276489" y="0"/>
                    <a:pt x="2286638" y="10149"/>
                    <a:pt x="2286638" y="22668"/>
                  </a:cubicBezTo>
                  <a:lnTo>
                    <a:pt x="2286638" y="575614"/>
                  </a:lnTo>
                  <a:cubicBezTo>
                    <a:pt x="2286638" y="581626"/>
                    <a:pt x="2284250" y="587392"/>
                    <a:pt x="2279998" y="591643"/>
                  </a:cubicBezTo>
                  <a:cubicBezTo>
                    <a:pt x="2275747" y="595894"/>
                    <a:pt x="2269982" y="598282"/>
                    <a:pt x="2263970" y="598282"/>
                  </a:cubicBezTo>
                  <a:lnTo>
                    <a:pt x="22668" y="598282"/>
                  </a:lnTo>
                  <a:cubicBezTo>
                    <a:pt x="16656" y="598282"/>
                    <a:pt x="10890" y="595894"/>
                    <a:pt x="6639" y="591643"/>
                  </a:cubicBezTo>
                  <a:cubicBezTo>
                    <a:pt x="2388" y="587392"/>
                    <a:pt x="0" y="581626"/>
                    <a:pt x="0" y="575614"/>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id="7" name="TextBox 7"/>
            <p:cNvSpPr txBox="1"/>
            <p:nvPr/>
          </p:nvSpPr>
          <p:spPr>
            <a:xfrm>
              <a:off x="0" y="85725"/>
              <a:ext cx="2286638" cy="512557"/>
            </a:xfrm>
            <a:prstGeom prst="rect">
              <a:avLst/>
            </a:prstGeom>
          </p:spPr>
          <p:txBody>
            <a:bodyPr lIns="50800" tIns="50800" rIns="50800" bIns="50800" rtlCol="0" anchor="ctr"/>
            <a:lstStyle/>
            <a:p>
              <a:pPr algn="ctr">
                <a:lnSpc>
                  <a:spcPts val="1925"/>
                </a:lnSpc>
              </a:pPr>
              <a:endParaRPr/>
            </a:p>
          </p:txBody>
        </p:sp>
      </p:grpSp>
      <p:grpSp>
        <p:nvGrpSpPr>
          <p:cNvPr id="8" name="Group 8"/>
          <p:cNvGrpSpPr/>
          <p:nvPr/>
        </p:nvGrpSpPr>
        <p:grpSpPr>
          <a:xfrm>
            <a:off x="10083134" y="6200495"/>
            <a:ext cx="6830714" cy="1884714"/>
            <a:chOff x="0" y="0"/>
            <a:chExt cx="2286638" cy="630924"/>
          </a:xfrm>
        </p:grpSpPr>
        <p:sp>
          <p:nvSpPr>
            <p:cNvPr id="9" name="Freeform 9"/>
            <p:cNvSpPr/>
            <p:nvPr/>
          </p:nvSpPr>
          <p:spPr>
            <a:xfrm>
              <a:off x="0" y="0"/>
              <a:ext cx="2286638" cy="630924"/>
            </a:xfrm>
            <a:custGeom>
              <a:avLst/>
              <a:gdLst/>
              <a:ahLst/>
              <a:cxnLst/>
              <a:rect l="l" t="t" r="r" b="b"/>
              <a:pathLst>
                <a:path w="2286638" h="630924">
                  <a:moveTo>
                    <a:pt x="22668" y="0"/>
                  </a:moveTo>
                  <a:lnTo>
                    <a:pt x="2263970" y="0"/>
                  </a:lnTo>
                  <a:cubicBezTo>
                    <a:pt x="2276489" y="0"/>
                    <a:pt x="2286638" y="10149"/>
                    <a:pt x="2286638" y="22668"/>
                  </a:cubicBezTo>
                  <a:lnTo>
                    <a:pt x="2286638" y="608256"/>
                  </a:lnTo>
                  <a:cubicBezTo>
                    <a:pt x="2286638" y="614268"/>
                    <a:pt x="2284250" y="620033"/>
                    <a:pt x="2279998" y="624284"/>
                  </a:cubicBezTo>
                  <a:cubicBezTo>
                    <a:pt x="2275747" y="628535"/>
                    <a:pt x="2269982" y="630924"/>
                    <a:pt x="2263970" y="630924"/>
                  </a:cubicBezTo>
                  <a:lnTo>
                    <a:pt x="22668" y="630924"/>
                  </a:lnTo>
                  <a:cubicBezTo>
                    <a:pt x="10149" y="630924"/>
                    <a:pt x="0" y="620775"/>
                    <a:pt x="0" y="608256"/>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id="10" name="TextBox 10"/>
            <p:cNvSpPr txBox="1"/>
            <p:nvPr/>
          </p:nvSpPr>
          <p:spPr>
            <a:xfrm>
              <a:off x="0" y="85725"/>
              <a:ext cx="2286638" cy="545199"/>
            </a:xfrm>
            <a:prstGeom prst="rect">
              <a:avLst/>
            </a:prstGeom>
          </p:spPr>
          <p:txBody>
            <a:bodyPr lIns="50800" tIns="50800" rIns="50800" bIns="50800" rtlCol="0" anchor="ctr"/>
            <a:lstStyle/>
            <a:p>
              <a:pPr algn="ctr">
                <a:lnSpc>
                  <a:spcPts val="1925"/>
                </a:lnSpc>
              </a:pPr>
              <a:endParaRPr/>
            </a:p>
          </p:txBody>
        </p:sp>
      </p:grpSp>
      <p:grpSp>
        <p:nvGrpSpPr>
          <p:cNvPr id="11" name="Group 11"/>
          <p:cNvGrpSpPr/>
          <p:nvPr/>
        </p:nvGrpSpPr>
        <p:grpSpPr>
          <a:xfrm>
            <a:off x="-514350" y="4079914"/>
            <a:ext cx="8985356" cy="5178386"/>
            <a:chOff x="0" y="0"/>
            <a:chExt cx="2366514" cy="1363855"/>
          </a:xfrm>
        </p:grpSpPr>
        <p:sp>
          <p:nvSpPr>
            <p:cNvPr id="12" name="Freeform 12"/>
            <p:cNvSpPr/>
            <p:nvPr/>
          </p:nvSpPr>
          <p:spPr>
            <a:xfrm>
              <a:off x="0" y="0"/>
              <a:ext cx="2366514" cy="1363855"/>
            </a:xfrm>
            <a:custGeom>
              <a:avLst/>
              <a:gdLst/>
              <a:ahLst/>
              <a:cxnLst/>
              <a:rect l="l" t="t" r="r" b="b"/>
              <a:pathLst>
                <a:path w="2366514" h="1363855">
                  <a:moveTo>
                    <a:pt x="0" y="0"/>
                  </a:moveTo>
                  <a:lnTo>
                    <a:pt x="2366514" y="0"/>
                  </a:lnTo>
                  <a:lnTo>
                    <a:pt x="2366514" y="1363855"/>
                  </a:lnTo>
                  <a:lnTo>
                    <a:pt x="0" y="1363855"/>
                  </a:lnTo>
                  <a:close/>
                </a:path>
              </a:pathLst>
            </a:custGeom>
            <a:solidFill>
              <a:srgbClr val="106861"/>
            </a:solidFill>
          </p:spPr>
        </p:sp>
        <p:sp>
          <p:nvSpPr>
            <p:cNvPr id="13" name="TextBox 13"/>
            <p:cNvSpPr txBox="1"/>
            <p:nvPr/>
          </p:nvSpPr>
          <p:spPr>
            <a:xfrm>
              <a:off x="0" y="-38100"/>
              <a:ext cx="2366514" cy="1401955"/>
            </a:xfrm>
            <a:prstGeom prst="rect">
              <a:avLst/>
            </a:prstGeom>
          </p:spPr>
          <p:txBody>
            <a:bodyPr lIns="50800" tIns="50800" rIns="50800" bIns="50800" rtlCol="0" anchor="ctr"/>
            <a:lstStyle/>
            <a:p>
              <a:pPr algn="ctr">
                <a:lnSpc>
                  <a:spcPts val="2859"/>
                </a:lnSpc>
              </a:pPr>
              <a:endParaRPr/>
            </a:p>
          </p:txBody>
        </p:sp>
      </p:grpSp>
      <p:sp>
        <p:nvSpPr>
          <p:cNvPr id="14" name="TextBox 14"/>
          <p:cNvSpPr txBox="1"/>
          <p:nvPr/>
        </p:nvSpPr>
        <p:spPr>
          <a:xfrm>
            <a:off x="1321225" y="1344395"/>
            <a:ext cx="4173977"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Project Overview</a:t>
            </a:r>
          </a:p>
        </p:txBody>
      </p:sp>
      <p:sp>
        <p:nvSpPr>
          <p:cNvPr id="15" name="TextBox 15"/>
          <p:cNvSpPr txBox="1"/>
          <p:nvPr/>
        </p:nvSpPr>
        <p:spPr>
          <a:xfrm>
            <a:off x="10695084" y="1428798"/>
            <a:ext cx="5606815" cy="2117725"/>
          </a:xfrm>
          <a:prstGeom prst="rect">
            <a:avLst/>
          </a:prstGeom>
        </p:spPr>
        <p:txBody>
          <a:bodyPr lIns="0" tIns="0" rIns="0" bIns="0" rtlCol="0" anchor="t">
            <a:spAutoFit/>
          </a:bodyPr>
          <a:lstStyle/>
          <a:p>
            <a:pPr marL="0" lvl="0" indent="0" algn="ctr">
              <a:lnSpc>
                <a:spcPts val="4249"/>
              </a:lnSpc>
            </a:pPr>
            <a:r>
              <a:rPr lang="en-US" sz="2499">
                <a:solidFill>
                  <a:srgbClr val="1C2120"/>
                </a:solidFill>
                <a:latin typeface="Poppins"/>
                <a:ea typeface="Poppins"/>
                <a:cs typeface="Poppins"/>
                <a:sym typeface="Poppins"/>
              </a:rPr>
              <a:t>Enabl</a:t>
            </a:r>
            <a:r>
              <a:rPr lang="en-US" sz="2499" u="none">
                <a:solidFill>
                  <a:srgbClr val="1C2120"/>
                </a:solidFill>
                <a:latin typeface="Poppins"/>
                <a:ea typeface="Poppins"/>
                <a:cs typeface="Poppins"/>
                <a:sym typeface="Poppins"/>
              </a:rPr>
              <a:t>es structured data movement from an on-prem environment to a cloud analytics platform for reporting and BI.</a:t>
            </a:r>
          </a:p>
        </p:txBody>
      </p:sp>
      <p:sp>
        <p:nvSpPr>
          <p:cNvPr id="16" name="TextBox 16"/>
          <p:cNvSpPr txBox="1"/>
          <p:nvPr/>
        </p:nvSpPr>
        <p:spPr>
          <a:xfrm>
            <a:off x="10695084" y="4375960"/>
            <a:ext cx="5606815" cy="1050925"/>
          </a:xfrm>
          <a:prstGeom prst="rect">
            <a:avLst/>
          </a:prstGeom>
        </p:spPr>
        <p:txBody>
          <a:bodyPr lIns="0" tIns="0" rIns="0" bIns="0" rtlCol="0" anchor="t">
            <a:spAutoFit/>
          </a:bodyPr>
          <a:lstStyle/>
          <a:p>
            <a:pPr marL="0" lvl="0" indent="0" algn="ctr">
              <a:lnSpc>
                <a:spcPts val="4249"/>
              </a:lnSpc>
            </a:pPr>
            <a:r>
              <a:rPr lang="en-US" sz="2499" spc="39">
                <a:solidFill>
                  <a:srgbClr val="1C2120"/>
                </a:solidFill>
                <a:latin typeface="Poppins"/>
                <a:ea typeface="Poppins"/>
                <a:cs typeface="Poppins"/>
                <a:sym typeface="Poppins"/>
              </a:rPr>
              <a:t>ADF</a:t>
            </a:r>
            <a:r>
              <a:rPr lang="en-US" sz="2499" u="none" spc="39">
                <a:solidFill>
                  <a:srgbClr val="1C2120"/>
                </a:solidFill>
                <a:latin typeface="Poppins"/>
                <a:ea typeface="Poppins"/>
                <a:cs typeface="Poppins"/>
                <a:sym typeface="Poppins"/>
              </a:rPr>
              <a:t> manages extraction, transformation, and loading (ETL).</a:t>
            </a:r>
          </a:p>
        </p:txBody>
      </p:sp>
      <p:sp>
        <p:nvSpPr>
          <p:cNvPr id="17" name="TextBox 17"/>
          <p:cNvSpPr txBox="1"/>
          <p:nvPr/>
        </p:nvSpPr>
        <p:spPr>
          <a:xfrm>
            <a:off x="10846810" y="6327876"/>
            <a:ext cx="5303363" cy="1496603"/>
          </a:xfrm>
          <a:prstGeom prst="rect">
            <a:avLst/>
          </a:prstGeom>
        </p:spPr>
        <p:txBody>
          <a:bodyPr lIns="0" tIns="0" rIns="0" bIns="0" rtlCol="0" anchor="t">
            <a:spAutoFit/>
          </a:bodyPr>
          <a:lstStyle/>
          <a:p>
            <a:pPr marL="0" lvl="0" indent="0" algn="ctr">
              <a:lnSpc>
                <a:spcPts val="4048"/>
              </a:lnSpc>
            </a:pPr>
            <a:r>
              <a:rPr lang="en-US" sz="2381" spc="38">
                <a:solidFill>
                  <a:srgbClr val="1C2120"/>
                </a:solidFill>
                <a:latin typeface="Poppins"/>
                <a:ea typeface="Poppins"/>
                <a:cs typeface="Poppins"/>
                <a:sym typeface="Poppins"/>
              </a:rPr>
              <a:t>D</a:t>
            </a:r>
            <a:r>
              <a:rPr lang="en-US" sz="2381" u="none" spc="38">
                <a:solidFill>
                  <a:srgbClr val="1C2120"/>
                </a:solidFill>
                <a:latin typeface="Poppins"/>
                <a:ea typeface="Poppins"/>
                <a:cs typeface="Poppins"/>
                <a:sym typeface="Poppins"/>
              </a:rPr>
              <a:t>evOps ensures code versioning, continuous integration, and automated deployments.</a:t>
            </a:r>
          </a:p>
        </p:txBody>
      </p:sp>
    </p:spTree>
  </p:cSld>
  <p:clrMapOvr>
    <a:masterClrMapping/>
  </p:clrMapOvr>
  <p:transition spd="slow">
    <p:cover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670300"/>
            <a:ext cx="5660979" cy="101155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Prerequisites</a:t>
            </a:r>
          </a:p>
        </p:txBody>
      </p:sp>
      <p:grpSp>
        <p:nvGrpSpPr>
          <p:cNvPr id="3" name="Group 3"/>
          <p:cNvGrpSpPr/>
          <p:nvPr/>
        </p:nvGrpSpPr>
        <p:grpSpPr>
          <a:xfrm>
            <a:off x="-141035" y="4566799"/>
            <a:ext cx="20530640" cy="5199999"/>
            <a:chOff x="0" y="0"/>
            <a:chExt cx="6872801" cy="1740742"/>
          </a:xfrm>
        </p:grpSpPr>
        <p:sp>
          <p:nvSpPr>
            <p:cNvPr id="4" name="Freeform 4"/>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5" name="TextBox 5"/>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grpSp>
        <p:nvGrpSpPr>
          <p:cNvPr id="6" name="Group 6"/>
          <p:cNvGrpSpPr/>
          <p:nvPr/>
        </p:nvGrpSpPr>
        <p:grpSpPr>
          <a:xfrm>
            <a:off x="7486358" y="1698875"/>
            <a:ext cx="10439445" cy="4224691"/>
            <a:chOff x="0" y="0"/>
            <a:chExt cx="2749484" cy="1112676"/>
          </a:xfrm>
        </p:grpSpPr>
        <p:sp>
          <p:nvSpPr>
            <p:cNvPr id="7" name="Freeform 7"/>
            <p:cNvSpPr/>
            <p:nvPr/>
          </p:nvSpPr>
          <p:spPr>
            <a:xfrm>
              <a:off x="0" y="0"/>
              <a:ext cx="2749484" cy="1112676"/>
            </a:xfrm>
            <a:custGeom>
              <a:avLst/>
              <a:gdLst/>
              <a:ahLst/>
              <a:cxnLst/>
              <a:rect l="l" t="t" r="r" b="b"/>
              <a:pathLst>
                <a:path w="2749484" h="1112676">
                  <a:moveTo>
                    <a:pt x="22248" y="0"/>
                  </a:moveTo>
                  <a:lnTo>
                    <a:pt x="2727235" y="0"/>
                  </a:lnTo>
                  <a:cubicBezTo>
                    <a:pt x="2733136" y="0"/>
                    <a:pt x="2738795" y="2344"/>
                    <a:pt x="2742967" y="6516"/>
                  </a:cubicBezTo>
                  <a:cubicBezTo>
                    <a:pt x="2747139" y="10689"/>
                    <a:pt x="2749484" y="16348"/>
                    <a:pt x="2749484" y="22248"/>
                  </a:cubicBezTo>
                  <a:lnTo>
                    <a:pt x="2749484" y="1090428"/>
                  </a:lnTo>
                  <a:cubicBezTo>
                    <a:pt x="2749484" y="1102715"/>
                    <a:pt x="2739523" y="1112676"/>
                    <a:pt x="2727235" y="1112676"/>
                  </a:cubicBezTo>
                  <a:lnTo>
                    <a:pt x="22248" y="1112676"/>
                  </a:lnTo>
                  <a:cubicBezTo>
                    <a:pt x="9961" y="1112676"/>
                    <a:pt x="0" y="1102715"/>
                    <a:pt x="0" y="1090428"/>
                  </a:cubicBezTo>
                  <a:lnTo>
                    <a:pt x="0" y="22248"/>
                  </a:lnTo>
                  <a:cubicBezTo>
                    <a:pt x="0" y="9961"/>
                    <a:pt x="9961" y="0"/>
                    <a:pt x="22248" y="0"/>
                  </a:cubicBezTo>
                  <a:close/>
                </a:path>
              </a:pathLst>
            </a:custGeom>
            <a:solidFill>
              <a:srgbClr val="106861"/>
            </a:solidFill>
            <a:ln cap="rnd">
              <a:noFill/>
              <a:prstDash val="solid"/>
              <a:round/>
            </a:ln>
          </p:spPr>
        </p:sp>
        <p:sp>
          <p:nvSpPr>
            <p:cNvPr id="8" name="TextBox 8"/>
            <p:cNvSpPr txBox="1"/>
            <p:nvPr/>
          </p:nvSpPr>
          <p:spPr>
            <a:xfrm>
              <a:off x="0" y="-38100"/>
              <a:ext cx="2749484" cy="1150776"/>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8184018" y="2471371"/>
            <a:ext cx="9044124" cy="2470150"/>
          </a:xfrm>
          <a:prstGeom prst="rect">
            <a:avLst/>
          </a:prstGeom>
        </p:spPr>
        <p:txBody>
          <a:bodyPr lIns="0" tIns="0" rIns="0" bIns="0" rtlCol="0" anchor="t">
            <a:spAutoFit/>
          </a:bodyPr>
          <a:lstStyle/>
          <a:p>
            <a:pPr marL="539749" lvl="1" indent="-269875" algn="l">
              <a:lnSpc>
                <a:spcPts val="4999"/>
              </a:lnSpc>
              <a:buFont typeface="Arial"/>
              <a:buChar char="•"/>
            </a:pPr>
            <a:r>
              <a:rPr lang="en-US" sz="2499">
                <a:solidFill>
                  <a:srgbClr val="FDFBFB"/>
                </a:solidFill>
                <a:latin typeface="Poppins"/>
                <a:ea typeface="Poppins"/>
                <a:cs typeface="Poppins"/>
                <a:sym typeface="Poppins"/>
              </a:rPr>
              <a:t>Azure Subscription to create required services.</a:t>
            </a:r>
          </a:p>
          <a:p>
            <a:pPr marL="539749" lvl="1" indent="-269875" algn="l">
              <a:lnSpc>
                <a:spcPts val="4999"/>
              </a:lnSpc>
              <a:buFont typeface="Arial"/>
              <a:buChar char="•"/>
            </a:pPr>
            <a:r>
              <a:rPr lang="en-US" sz="2499">
                <a:solidFill>
                  <a:srgbClr val="FDFBFB"/>
                </a:solidFill>
                <a:latin typeface="Poppins"/>
                <a:ea typeface="Poppins"/>
                <a:cs typeface="Poppins"/>
                <a:sym typeface="Poppins"/>
              </a:rPr>
              <a:t>Azure DevOps account for source control and CI/CD.</a:t>
            </a:r>
          </a:p>
          <a:p>
            <a:pPr marL="539749" lvl="1" indent="-269875" algn="l">
              <a:lnSpc>
                <a:spcPts val="4999"/>
              </a:lnSpc>
              <a:buFont typeface="Arial"/>
              <a:buChar char="•"/>
            </a:pPr>
            <a:r>
              <a:rPr lang="en-US" sz="2499">
                <a:solidFill>
                  <a:srgbClr val="FDFBFB"/>
                </a:solidFill>
                <a:latin typeface="Poppins"/>
                <a:ea typeface="Poppins"/>
                <a:cs typeface="Poppins"/>
                <a:sym typeface="Poppins"/>
              </a:rPr>
              <a:t>Knowledge of SQL (for querying data), Pipelines (for workflow creation), and Git (for version control).</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86495" y="1219505"/>
            <a:ext cx="990692" cy="990692"/>
          </a:xfrm>
          <a:custGeom>
            <a:avLst/>
            <a:gdLst/>
            <a:ahLst/>
            <a:cxnLst/>
            <a:rect l="l" t="t" r="r" b="b"/>
            <a:pathLst>
              <a:path w="990692" h="990692">
                <a:moveTo>
                  <a:pt x="0" y="0"/>
                </a:moveTo>
                <a:lnTo>
                  <a:pt x="990692" y="0"/>
                </a:lnTo>
                <a:lnTo>
                  <a:pt x="990692" y="990692"/>
                </a:lnTo>
                <a:lnTo>
                  <a:pt x="0" y="990692"/>
                </a:lnTo>
                <a:lnTo>
                  <a:pt x="0" y="0"/>
                </a:lnTo>
                <a:close/>
              </a:path>
            </a:pathLst>
          </a:custGeom>
          <a:blipFill>
            <a:blip r:embed="rId2"/>
            <a:stretch>
              <a:fillRect/>
            </a:stretch>
          </a:blipFill>
        </p:spPr>
      </p:sp>
      <p:sp>
        <p:nvSpPr>
          <p:cNvPr id="3" name="Freeform 3"/>
          <p:cNvSpPr/>
          <p:nvPr/>
        </p:nvSpPr>
        <p:spPr>
          <a:xfrm>
            <a:off x="7433815" y="4359861"/>
            <a:ext cx="943372" cy="943372"/>
          </a:xfrm>
          <a:custGeom>
            <a:avLst/>
            <a:gdLst/>
            <a:ahLst/>
            <a:cxnLst/>
            <a:rect l="l" t="t" r="r" b="b"/>
            <a:pathLst>
              <a:path w="943372" h="943372">
                <a:moveTo>
                  <a:pt x="0" y="0"/>
                </a:moveTo>
                <a:lnTo>
                  <a:pt x="943372" y="0"/>
                </a:lnTo>
                <a:lnTo>
                  <a:pt x="943372" y="943372"/>
                </a:lnTo>
                <a:lnTo>
                  <a:pt x="0" y="943372"/>
                </a:lnTo>
                <a:lnTo>
                  <a:pt x="0" y="0"/>
                </a:lnTo>
                <a:close/>
              </a:path>
            </a:pathLst>
          </a:custGeom>
          <a:blipFill>
            <a:blip r:embed="rId3"/>
            <a:stretch>
              <a:fillRect/>
            </a:stretch>
          </a:blipFill>
        </p:spPr>
      </p:sp>
      <p:sp>
        <p:nvSpPr>
          <p:cNvPr id="4" name="Freeform 4"/>
          <p:cNvSpPr/>
          <p:nvPr/>
        </p:nvSpPr>
        <p:spPr>
          <a:xfrm>
            <a:off x="7429648" y="5884258"/>
            <a:ext cx="947539" cy="947539"/>
          </a:xfrm>
          <a:custGeom>
            <a:avLst/>
            <a:gdLst/>
            <a:ahLst/>
            <a:cxnLst/>
            <a:rect l="l" t="t" r="r" b="b"/>
            <a:pathLst>
              <a:path w="947539" h="947539">
                <a:moveTo>
                  <a:pt x="0" y="0"/>
                </a:moveTo>
                <a:lnTo>
                  <a:pt x="947539" y="0"/>
                </a:lnTo>
                <a:lnTo>
                  <a:pt x="947539" y="947539"/>
                </a:lnTo>
                <a:lnTo>
                  <a:pt x="0" y="947539"/>
                </a:lnTo>
                <a:lnTo>
                  <a:pt x="0" y="0"/>
                </a:lnTo>
                <a:close/>
              </a:path>
            </a:pathLst>
          </a:custGeom>
          <a:blipFill>
            <a:blip r:embed="rId4"/>
            <a:stretch>
              <a:fillRect/>
            </a:stretch>
          </a:blipFill>
        </p:spPr>
      </p:sp>
      <p:sp>
        <p:nvSpPr>
          <p:cNvPr id="5" name="Freeform 5"/>
          <p:cNvSpPr/>
          <p:nvPr/>
        </p:nvSpPr>
        <p:spPr>
          <a:xfrm>
            <a:off x="7433815" y="7412822"/>
            <a:ext cx="990692" cy="990692"/>
          </a:xfrm>
          <a:custGeom>
            <a:avLst/>
            <a:gdLst/>
            <a:ahLst/>
            <a:cxnLst/>
            <a:rect l="l" t="t" r="r" b="b"/>
            <a:pathLst>
              <a:path w="990692" h="990692">
                <a:moveTo>
                  <a:pt x="0" y="0"/>
                </a:moveTo>
                <a:lnTo>
                  <a:pt x="990692" y="0"/>
                </a:lnTo>
                <a:lnTo>
                  <a:pt x="990692" y="990693"/>
                </a:lnTo>
                <a:lnTo>
                  <a:pt x="0" y="990693"/>
                </a:lnTo>
                <a:lnTo>
                  <a:pt x="0" y="0"/>
                </a:lnTo>
                <a:close/>
              </a:path>
            </a:pathLst>
          </a:custGeom>
          <a:blipFill>
            <a:blip r:embed="rId5"/>
            <a:stretch>
              <a:fillRect/>
            </a:stretch>
          </a:blipFill>
        </p:spPr>
      </p:sp>
      <p:sp>
        <p:nvSpPr>
          <p:cNvPr id="6" name="Freeform 6"/>
          <p:cNvSpPr/>
          <p:nvPr/>
        </p:nvSpPr>
        <p:spPr>
          <a:xfrm>
            <a:off x="7386495" y="2788144"/>
            <a:ext cx="990692" cy="990692"/>
          </a:xfrm>
          <a:custGeom>
            <a:avLst/>
            <a:gdLst/>
            <a:ahLst/>
            <a:cxnLst/>
            <a:rect l="l" t="t" r="r" b="b"/>
            <a:pathLst>
              <a:path w="990692" h="990692">
                <a:moveTo>
                  <a:pt x="0" y="0"/>
                </a:moveTo>
                <a:lnTo>
                  <a:pt x="990692" y="0"/>
                </a:lnTo>
                <a:lnTo>
                  <a:pt x="990692" y="990692"/>
                </a:lnTo>
                <a:lnTo>
                  <a:pt x="0" y="990692"/>
                </a:lnTo>
                <a:lnTo>
                  <a:pt x="0" y="0"/>
                </a:lnTo>
                <a:close/>
              </a:path>
            </a:pathLst>
          </a:custGeom>
          <a:blipFill>
            <a:blip r:embed="rId6"/>
            <a:stretch>
              <a:fillRect/>
            </a:stretch>
          </a:blipFill>
        </p:spPr>
      </p:sp>
      <p:sp>
        <p:nvSpPr>
          <p:cNvPr id="7" name="Freeform 7"/>
          <p:cNvSpPr/>
          <p:nvPr/>
        </p:nvSpPr>
        <p:spPr>
          <a:xfrm>
            <a:off x="6208867" y="7473842"/>
            <a:ext cx="929673" cy="929673"/>
          </a:xfrm>
          <a:custGeom>
            <a:avLst/>
            <a:gdLst/>
            <a:ahLst/>
            <a:cxnLst/>
            <a:rect l="l" t="t" r="r" b="b"/>
            <a:pathLst>
              <a:path w="929673" h="929673">
                <a:moveTo>
                  <a:pt x="0" y="0"/>
                </a:moveTo>
                <a:lnTo>
                  <a:pt x="929673" y="0"/>
                </a:lnTo>
                <a:lnTo>
                  <a:pt x="929673" y="929673"/>
                </a:lnTo>
                <a:lnTo>
                  <a:pt x="0" y="929673"/>
                </a:lnTo>
                <a:lnTo>
                  <a:pt x="0" y="0"/>
                </a:lnTo>
                <a:close/>
              </a:path>
            </a:pathLst>
          </a:custGeom>
          <a:blipFill>
            <a:blip r:embed="rId7"/>
            <a:stretch>
              <a:fillRect/>
            </a:stretch>
          </a:blipFill>
        </p:spPr>
      </p:sp>
      <p:sp>
        <p:nvSpPr>
          <p:cNvPr id="8" name="Freeform 8"/>
          <p:cNvSpPr/>
          <p:nvPr/>
        </p:nvSpPr>
        <p:spPr>
          <a:xfrm>
            <a:off x="4983920" y="7426521"/>
            <a:ext cx="929673" cy="929673"/>
          </a:xfrm>
          <a:custGeom>
            <a:avLst/>
            <a:gdLst/>
            <a:ahLst/>
            <a:cxnLst/>
            <a:rect l="l" t="t" r="r" b="b"/>
            <a:pathLst>
              <a:path w="929673" h="929673">
                <a:moveTo>
                  <a:pt x="0" y="0"/>
                </a:moveTo>
                <a:lnTo>
                  <a:pt x="929672" y="0"/>
                </a:lnTo>
                <a:lnTo>
                  <a:pt x="929672" y="929673"/>
                </a:lnTo>
                <a:lnTo>
                  <a:pt x="0" y="929673"/>
                </a:lnTo>
                <a:lnTo>
                  <a:pt x="0" y="0"/>
                </a:lnTo>
                <a:close/>
              </a:path>
            </a:pathLst>
          </a:custGeom>
          <a:blipFill>
            <a:blip r:embed="rId8"/>
            <a:stretch>
              <a:fillRect/>
            </a:stretch>
          </a:blipFill>
        </p:spPr>
      </p:sp>
      <p:sp>
        <p:nvSpPr>
          <p:cNvPr id="9" name="TextBox 9"/>
          <p:cNvSpPr txBox="1"/>
          <p:nvPr/>
        </p:nvSpPr>
        <p:spPr>
          <a:xfrm>
            <a:off x="1491865" y="1360898"/>
            <a:ext cx="4511619" cy="2513965"/>
          </a:xfrm>
          <a:prstGeom prst="rect">
            <a:avLst/>
          </a:prstGeom>
        </p:spPr>
        <p:txBody>
          <a:bodyPr lIns="0" tIns="0" rIns="0" bIns="0" rtlCol="0" anchor="t">
            <a:spAutoFit/>
          </a:bodyPr>
          <a:lstStyle/>
          <a:p>
            <a:pPr marL="0" lvl="1" indent="0" algn="l">
              <a:lnSpc>
                <a:spcPts val="6305"/>
              </a:lnSpc>
              <a:spcBef>
                <a:spcPct val="0"/>
              </a:spcBef>
            </a:pPr>
            <a:r>
              <a:rPr lang="en-US" sz="6500" b="1">
                <a:solidFill>
                  <a:srgbClr val="1C2120"/>
                </a:solidFill>
                <a:latin typeface="Poppins Bold"/>
                <a:ea typeface="Poppins Bold"/>
                <a:cs typeface="Poppins Bold"/>
                <a:sym typeface="Poppins Bold"/>
              </a:rPr>
              <a:t>Azure Resources Used</a:t>
            </a:r>
          </a:p>
        </p:txBody>
      </p:sp>
      <p:sp>
        <p:nvSpPr>
          <p:cNvPr id="10" name="TextBox 10"/>
          <p:cNvSpPr txBox="1"/>
          <p:nvPr/>
        </p:nvSpPr>
        <p:spPr>
          <a:xfrm>
            <a:off x="8900394" y="1398998"/>
            <a:ext cx="7606431" cy="733425"/>
          </a:xfrm>
          <a:prstGeom prst="rect">
            <a:avLst/>
          </a:prstGeom>
        </p:spPr>
        <p:txBody>
          <a:bodyPr lIns="0" tIns="0" rIns="0" bIns="0" rtlCol="0" anchor="t">
            <a:spAutoFit/>
          </a:bodyPr>
          <a:lstStyle/>
          <a:p>
            <a:pPr algn="l">
              <a:lnSpc>
                <a:spcPts val="2849"/>
              </a:lnSpc>
              <a:spcBef>
                <a:spcPct val="0"/>
              </a:spcBef>
            </a:pPr>
            <a:r>
              <a:rPr lang="en-US" sz="2499">
                <a:solidFill>
                  <a:srgbClr val="1C2120"/>
                </a:solidFill>
                <a:latin typeface="Poppins"/>
                <a:ea typeface="Poppins"/>
                <a:cs typeface="Poppins"/>
                <a:sym typeface="Poppins"/>
              </a:rPr>
              <a:t>Azure Data Factory (ADF) → For orchestrating ETL pipelines and managing data movement.</a:t>
            </a:r>
          </a:p>
        </p:txBody>
      </p:sp>
      <p:sp>
        <p:nvSpPr>
          <p:cNvPr id="11" name="TextBox 11"/>
          <p:cNvSpPr txBox="1"/>
          <p:nvPr/>
        </p:nvSpPr>
        <p:spPr>
          <a:xfrm>
            <a:off x="8900394" y="2996536"/>
            <a:ext cx="7606431" cy="733425"/>
          </a:xfrm>
          <a:prstGeom prst="rect">
            <a:avLst/>
          </a:prstGeom>
        </p:spPr>
        <p:txBody>
          <a:bodyPr lIns="0" tIns="0" rIns="0" bIns="0" rtlCol="0" anchor="t">
            <a:spAutoFit/>
          </a:bodyPr>
          <a:lstStyle/>
          <a:p>
            <a:pPr algn="l">
              <a:lnSpc>
                <a:spcPts val="2849"/>
              </a:lnSpc>
              <a:spcBef>
                <a:spcPct val="0"/>
              </a:spcBef>
            </a:pPr>
            <a:r>
              <a:rPr lang="en-US" sz="2499">
                <a:solidFill>
                  <a:srgbClr val="1C2120"/>
                </a:solidFill>
                <a:latin typeface="Poppins"/>
                <a:ea typeface="Poppins"/>
                <a:cs typeface="Poppins"/>
                <a:sym typeface="Poppins"/>
              </a:rPr>
              <a:t>Azure Repos (Git) → Source code repository for pipeline JSONs and configurations</a:t>
            </a:r>
          </a:p>
        </p:txBody>
      </p:sp>
      <p:sp>
        <p:nvSpPr>
          <p:cNvPr id="12" name="TextBox 12"/>
          <p:cNvSpPr txBox="1"/>
          <p:nvPr/>
        </p:nvSpPr>
        <p:spPr>
          <a:xfrm>
            <a:off x="8900394" y="4522109"/>
            <a:ext cx="7606431" cy="733425"/>
          </a:xfrm>
          <a:prstGeom prst="rect">
            <a:avLst/>
          </a:prstGeom>
        </p:spPr>
        <p:txBody>
          <a:bodyPr lIns="0" tIns="0" rIns="0" bIns="0" rtlCol="0" anchor="t">
            <a:spAutoFit/>
          </a:bodyPr>
          <a:lstStyle/>
          <a:p>
            <a:pPr algn="l">
              <a:lnSpc>
                <a:spcPts val="2849"/>
              </a:lnSpc>
              <a:spcBef>
                <a:spcPct val="0"/>
              </a:spcBef>
            </a:pPr>
            <a:r>
              <a:rPr lang="en-US" sz="2499">
                <a:solidFill>
                  <a:srgbClr val="1C2120"/>
                </a:solidFill>
                <a:latin typeface="Poppins"/>
                <a:ea typeface="Poppins"/>
                <a:cs typeface="Poppins"/>
                <a:sym typeface="Poppins"/>
              </a:rPr>
              <a:t>Azure DevOps → For CI/CD pipelines, version control, and release management.</a:t>
            </a:r>
          </a:p>
        </p:txBody>
      </p:sp>
      <p:sp>
        <p:nvSpPr>
          <p:cNvPr id="13" name="TextBox 13"/>
          <p:cNvSpPr txBox="1"/>
          <p:nvPr/>
        </p:nvSpPr>
        <p:spPr>
          <a:xfrm>
            <a:off x="8900394" y="6020599"/>
            <a:ext cx="7606431" cy="733425"/>
          </a:xfrm>
          <a:prstGeom prst="rect">
            <a:avLst/>
          </a:prstGeom>
        </p:spPr>
        <p:txBody>
          <a:bodyPr lIns="0" tIns="0" rIns="0" bIns="0" rtlCol="0" anchor="t">
            <a:spAutoFit/>
          </a:bodyPr>
          <a:lstStyle/>
          <a:p>
            <a:pPr algn="l">
              <a:lnSpc>
                <a:spcPts val="2849"/>
              </a:lnSpc>
              <a:spcBef>
                <a:spcPct val="0"/>
              </a:spcBef>
            </a:pPr>
            <a:r>
              <a:rPr lang="en-US" sz="2499">
                <a:solidFill>
                  <a:srgbClr val="1C2120"/>
                </a:solidFill>
                <a:latin typeface="Poppins"/>
                <a:ea typeface="Poppins"/>
                <a:cs typeface="Poppins"/>
                <a:sym typeface="Poppins"/>
              </a:rPr>
              <a:t>Azure Key Vault → Secure storage of secrets, keys, and connection strings.</a:t>
            </a:r>
          </a:p>
        </p:txBody>
      </p:sp>
      <p:sp>
        <p:nvSpPr>
          <p:cNvPr id="14" name="TextBox 14"/>
          <p:cNvSpPr txBox="1"/>
          <p:nvPr/>
        </p:nvSpPr>
        <p:spPr>
          <a:xfrm>
            <a:off x="8900394" y="7544996"/>
            <a:ext cx="7606431" cy="733425"/>
          </a:xfrm>
          <a:prstGeom prst="rect">
            <a:avLst/>
          </a:prstGeom>
        </p:spPr>
        <p:txBody>
          <a:bodyPr lIns="0" tIns="0" rIns="0" bIns="0" rtlCol="0" anchor="t">
            <a:spAutoFit/>
          </a:bodyPr>
          <a:lstStyle/>
          <a:p>
            <a:pPr algn="l">
              <a:lnSpc>
                <a:spcPts val="2849"/>
              </a:lnSpc>
              <a:spcBef>
                <a:spcPct val="0"/>
              </a:spcBef>
            </a:pPr>
            <a:r>
              <a:rPr lang="en-US" sz="2499">
                <a:solidFill>
                  <a:srgbClr val="1C2120"/>
                </a:solidFill>
                <a:latin typeface="Poppins"/>
                <a:ea typeface="Poppins"/>
                <a:cs typeface="Poppins"/>
                <a:sym typeface="Poppins"/>
              </a:rPr>
              <a:t>Azure SQL Database, Synapse, Storage Account  → Data storage and transformation.</a:t>
            </a:r>
          </a:p>
        </p:txBody>
      </p:sp>
      <p:grpSp>
        <p:nvGrpSpPr>
          <p:cNvPr id="15" name="Group 15"/>
          <p:cNvGrpSpPr/>
          <p:nvPr/>
        </p:nvGrpSpPr>
        <p:grpSpPr>
          <a:xfrm>
            <a:off x="-141035" y="9127415"/>
            <a:ext cx="20530640" cy="1468205"/>
            <a:chOff x="0" y="0"/>
            <a:chExt cx="6872801" cy="491494"/>
          </a:xfrm>
        </p:grpSpPr>
        <p:sp>
          <p:nvSpPr>
            <p:cNvPr id="16" name="Freeform 16"/>
            <p:cNvSpPr/>
            <p:nvPr/>
          </p:nvSpPr>
          <p:spPr>
            <a:xfrm>
              <a:off x="0" y="0"/>
              <a:ext cx="6872801" cy="491494"/>
            </a:xfrm>
            <a:custGeom>
              <a:avLst/>
              <a:gdLst/>
              <a:ahLst/>
              <a:cxnLst/>
              <a:rect l="l" t="t" r="r" b="b"/>
              <a:pathLst>
                <a:path w="6872801" h="491494">
                  <a:moveTo>
                    <a:pt x="0" y="0"/>
                  </a:moveTo>
                  <a:lnTo>
                    <a:pt x="6872801" y="0"/>
                  </a:lnTo>
                  <a:lnTo>
                    <a:pt x="6872801" y="491494"/>
                  </a:lnTo>
                  <a:lnTo>
                    <a:pt x="0" y="491494"/>
                  </a:lnTo>
                  <a:close/>
                </a:path>
              </a:pathLst>
            </a:custGeom>
            <a:solidFill>
              <a:srgbClr val="AAD7D4"/>
            </a:solidFill>
            <a:ln cap="sq">
              <a:noFill/>
              <a:prstDash val="solid"/>
              <a:miter/>
            </a:ln>
          </p:spPr>
        </p:sp>
        <p:sp>
          <p:nvSpPr>
            <p:cNvPr id="17" name="TextBox 17"/>
            <p:cNvSpPr txBox="1"/>
            <p:nvPr/>
          </p:nvSpPr>
          <p:spPr>
            <a:xfrm>
              <a:off x="0" y="85725"/>
              <a:ext cx="6872801" cy="405769"/>
            </a:xfrm>
            <a:prstGeom prst="rect">
              <a:avLst/>
            </a:prstGeom>
          </p:spPr>
          <p:txBody>
            <a:bodyPr lIns="50800" tIns="50800" rIns="50800" bIns="50800" rtlCol="0" anchor="ctr"/>
            <a:lstStyle/>
            <a:p>
              <a:pPr algn="ctr">
                <a:lnSpc>
                  <a:spcPts val="1925"/>
                </a:lnSpc>
              </a:pPr>
              <a:endParaRPr/>
            </a:p>
          </p:txBody>
        </p:sp>
      </p:grpSp>
    </p:spTree>
  </p:cSld>
  <p:clrMapOvr>
    <a:masterClrMapping/>
  </p:clrMapOvr>
  <p:transition spd="slow">
    <p:cover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99340" y="1132858"/>
            <a:ext cx="4149600"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Resource Group</a:t>
            </a:r>
          </a:p>
        </p:txBody>
      </p:sp>
      <p:grpSp>
        <p:nvGrpSpPr>
          <p:cNvPr id="3" name="Group 3"/>
          <p:cNvGrpSpPr/>
          <p:nvPr/>
        </p:nvGrpSpPr>
        <p:grpSpPr>
          <a:xfrm>
            <a:off x="-141035" y="4566799"/>
            <a:ext cx="20530640" cy="5199999"/>
            <a:chOff x="0" y="0"/>
            <a:chExt cx="6872801" cy="1740742"/>
          </a:xfrm>
        </p:grpSpPr>
        <p:sp>
          <p:nvSpPr>
            <p:cNvPr id="4" name="Freeform 4"/>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5" name="TextBox 5"/>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grpSp>
        <p:nvGrpSpPr>
          <p:cNvPr id="6" name="Group 6"/>
          <p:cNvGrpSpPr/>
          <p:nvPr/>
        </p:nvGrpSpPr>
        <p:grpSpPr>
          <a:xfrm>
            <a:off x="6145618" y="1394698"/>
            <a:ext cx="10195674" cy="3748802"/>
            <a:chOff x="0" y="0"/>
            <a:chExt cx="2685281" cy="987339"/>
          </a:xfrm>
        </p:grpSpPr>
        <p:sp>
          <p:nvSpPr>
            <p:cNvPr id="7" name="Freeform 7"/>
            <p:cNvSpPr/>
            <p:nvPr/>
          </p:nvSpPr>
          <p:spPr>
            <a:xfrm>
              <a:off x="0" y="0"/>
              <a:ext cx="2685280" cy="987339"/>
            </a:xfrm>
            <a:custGeom>
              <a:avLst/>
              <a:gdLst/>
              <a:ahLst/>
              <a:cxnLst/>
              <a:rect l="l" t="t" r="r" b="b"/>
              <a:pathLst>
                <a:path w="2685280" h="987339">
                  <a:moveTo>
                    <a:pt x="22780" y="0"/>
                  </a:moveTo>
                  <a:lnTo>
                    <a:pt x="2662500" y="0"/>
                  </a:lnTo>
                  <a:cubicBezTo>
                    <a:pt x="2668542" y="0"/>
                    <a:pt x="2674336" y="2400"/>
                    <a:pt x="2678608" y="6672"/>
                  </a:cubicBezTo>
                  <a:cubicBezTo>
                    <a:pt x="2682880" y="10944"/>
                    <a:pt x="2685280" y="16738"/>
                    <a:pt x="2685280" y="22780"/>
                  </a:cubicBezTo>
                  <a:lnTo>
                    <a:pt x="2685280" y="964559"/>
                  </a:lnTo>
                  <a:cubicBezTo>
                    <a:pt x="2685280" y="970600"/>
                    <a:pt x="2682880" y="976394"/>
                    <a:pt x="2678608" y="980667"/>
                  </a:cubicBezTo>
                  <a:cubicBezTo>
                    <a:pt x="2674336" y="984939"/>
                    <a:pt x="2668542" y="987339"/>
                    <a:pt x="2662500" y="987339"/>
                  </a:cubicBezTo>
                  <a:lnTo>
                    <a:pt x="22780" y="987339"/>
                  </a:lnTo>
                  <a:cubicBezTo>
                    <a:pt x="16738" y="987339"/>
                    <a:pt x="10944" y="984939"/>
                    <a:pt x="6672" y="980667"/>
                  </a:cubicBezTo>
                  <a:cubicBezTo>
                    <a:pt x="2400" y="976394"/>
                    <a:pt x="0" y="970600"/>
                    <a:pt x="0" y="964559"/>
                  </a:cubicBezTo>
                  <a:lnTo>
                    <a:pt x="0" y="22780"/>
                  </a:lnTo>
                  <a:cubicBezTo>
                    <a:pt x="0" y="16738"/>
                    <a:pt x="2400" y="10944"/>
                    <a:pt x="6672" y="6672"/>
                  </a:cubicBezTo>
                  <a:cubicBezTo>
                    <a:pt x="10944" y="2400"/>
                    <a:pt x="16738" y="0"/>
                    <a:pt x="22780" y="0"/>
                  </a:cubicBezTo>
                  <a:close/>
                </a:path>
              </a:pathLst>
            </a:custGeom>
            <a:solidFill>
              <a:srgbClr val="106861"/>
            </a:solidFill>
          </p:spPr>
        </p:sp>
        <p:sp>
          <p:nvSpPr>
            <p:cNvPr id="8" name="TextBox 8"/>
            <p:cNvSpPr txBox="1"/>
            <p:nvPr/>
          </p:nvSpPr>
          <p:spPr>
            <a:xfrm>
              <a:off x="0" y="-38100"/>
              <a:ext cx="2685281" cy="1025439"/>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6863619" y="1900573"/>
            <a:ext cx="8320884" cy="2476500"/>
          </a:xfrm>
          <a:prstGeom prst="rect">
            <a:avLst/>
          </a:prstGeom>
        </p:spPr>
        <p:txBody>
          <a:bodyPr lIns="0" tIns="0" rIns="0" bIns="0" rtlCol="0" anchor="t">
            <a:spAutoFit/>
          </a:bodyPr>
          <a:lstStyle/>
          <a:p>
            <a:pPr marL="539749" lvl="1" indent="-269875" algn="l">
              <a:lnSpc>
                <a:spcPts val="5024"/>
              </a:lnSpc>
              <a:buFont typeface="Arial"/>
              <a:buChar char="•"/>
            </a:pPr>
            <a:r>
              <a:rPr lang="en-US" sz="2499">
                <a:solidFill>
                  <a:srgbClr val="FDFBFB"/>
                </a:solidFill>
                <a:latin typeface="Poppins"/>
                <a:ea typeface="Poppins"/>
                <a:cs typeface="Poppins"/>
                <a:sym typeface="Poppins"/>
              </a:rPr>
              <a:t>Created a resource group rg-hexaver-adf-synapse-dev to logically organize resources.</a:t>
            </a:r>
          </a:p>
          <a:p>
            <a:pPr marL="539749" lvl="1" indent="-269875" algn="l">
              <a:lnSpc>
                <a:spcPts val="5024"/>
              </a:lnSpc>
              <a:buFont typeface="Arial"/>
              <a:buChar char="•"/>
            </a:pPr>
            <a:r>
              <a:rPr lang="en-US" sz="2499">
                <a:solidFill>
                  <a:srgbClr val="FDFBFB"/>
                </a:solidFill>
                <a:latin typeface="Poppins"/>
                <a:ea typeface="Poppins"/>
                <a:cs typeface="Poppins"/>
                <a:sym typeface="Poppins"/>
              </a:rPr>
              <a:t>Helps in centralized management, monitoring, and cost tracking.</a:t>
            </a:r>
          </a:p>
        </p:txBody>
      </p:sp>
    </p:spTree>
  </p:cSld>
  <p:clrMapOvr>
    <a:masterClrMapping/>
  </p:clrMapOvr>
  <p:transition spd="slow">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479764"/>
            <a:ext cx="4710273" cy="101155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ADLS Gen2</a:t>
            </a:r>
          </a:p>
        </p:txBody>
      </p:sp>
      <p:grpSp>
        <p:nvGrpSpPr>
          <p:cNvPr id="3" name="Group 3"/>
          <p:cNvGrpSpPr/>
          <p:nvPr/>
        </p:nvGrpSpPr>
        <p:grpSpPr>
          <a:xfrm>
            <a:off x="7096324" y="1508339"/>
            <a:ext cx="9805641" cy="3398267"/>
            <a:chOff x="0" y="0"/>
            <a:chExt cx="2582556" cy="895017"/>
          </a:xfrm>
        </p:grpSpPr>
        <p:sp>
          <p:nvSpPr>
            <p:cNvPr id="4" name="Freeform 4"/>
            <p:cNvSpPr/>
            <p:nvPr/>
          </p:nvSpPr>
          <p:spPr>
            <a:xfrm>
              <a:off x="0" y="0"/>
              <a:ext cx="2582556" cy="895017"/>
            </a:xfrm>
            <a:custGeom>
              <a:avLst/>
              <a:gdLst/>
              <a:ahLst/>
              <a:cxnLst/>
              <a:rect l="l" t="t" r="r" b="b"/>
              <a:pathLst>
                <a:path w="2582556" h="895017">
                  <a:moveTo>
                    <a:pt x="23686" y="0"/>
                  </a:moveTo>
                  <a:lnTo>
                    <a:pt x="2558870" y="0"/>
                  </a:lnTo>
                  <a:cubicBezTo>
                    <a:pt x="2565152" y="0"/>
                    <a:pt x="2571176" y="2495"/>
                    <a:pt x="2575618" y="6938"/>
                  </a:cubicBezTo>
                  <a:cubicBezTo>
                    <a:pt x="2580060" y="11380"/>
                    <a:pt x="2582556" y="17404"/>
                    <a:pt x="2582556" y="23686"/>
                  </a:cubicBezTo>
                  <a:lnTo>
                    <a:pt x="2582556" y="871331"/>
                  </a:lnTo>
                  <a:cubicBezTo>
                    <a:pt x="2582556" y="877613"/>
                    <a:pt x="2580060" y="883637"/>
                    <a:pt x="2575618" y="888079"/>
                  </a:cubicBezTo>
                  <a:cubicBezTo>
                    <a:pt x="2571176" y="892521"/>
                    <a:pt x="2565152" y="895017"/>
                    <a:pt x="2558870" y="895017"/>
                  </a:cubicBezTo>
                  <a:lnTo>
                    <a:pt x="23686" y="895017"/>
                  </a:lnTo>
                  <a:cubicBezTo>
                    <a:pt x="17404" y="895017"/>
                    <a:pt x="11380" y="892521"/>
                    <a:pt x="6938" y="888079"/>
                  </a:cubicBezTo>
                  <a:cubicBezTo>
                    <a:pt x="2495" y="883637"/>
                    <a:pt x="0" y="877613"/>
                    <a:pt x="0" y="871331"/>
                  </a:cubicBezTo>
                  <a:lnTo>
                    <a:pt x="0" y="23686"/>
                  </a:lnTo>
                  <a:cubicBezTo>
                    <a:pt x="0" y="17404"/>
                    <a:pt x="2495" y="11380"/>
                    <a:pt x="6938" y="6938"/>
                  </a:cubicBezTo>
                  <a:cubicBezTo>
                    <a:pt x="11380" y="2495"/>
                    <a:pt x="17404" y="0"/>
                    <a:pt x="23686" y="0"/>
                  </a:cubicBezTo>
                  <a:close/>
                </a:path>
              </a:pathLst>
            </a:custGeom>
            <a:solidFill>
              <a:srgbClr val="106861"/>
            </a:solidFill>
          </p:spPr>
        </p:sp>
        <p:sp>
          <p:nvSpPr>
            <p:cNvPr id="5" name="TextBox 5"/>
            <p:cNvSpPr txBox="1"/>
            <p:nvPr/>
          </p:nvSpPr>
          <p:spPr>
            <a:xfrm>
              <a:off x="0" y="-38100"/>
              <a:ext cx="2582556" cy="933117"/>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7741194" y="2031542"/>
            <a:ext cx="8515900"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Provisioned Azure Data Lake Storage Gen2 with raw and curated containers.</a:t>
            </a:r>
          </a:p>
          <a:p>
            <a:pPr marL="539749" lvl="1" indent="-269875" algn="l">
              <a:lnSpc>
                <a:spcPts val="4249"/>
              </a:lnSpc>
              <a:buFont typeface="Arial"/>
              <a:buChar char="•"/>
            </a:pPr>
            <a:r>
              <a:rPr lang="en-US" sz="2499">
                <a:solidFill>
                  <a:srgbClr val="FDFBFB"/>
                </a:solidFill>
                <a:latin typeface="Poppins"/>
                <a:ea typeface="Poppins"/>
                <a:cs typeface="Poppins"/>
                <a:sym typeface="Poppins"/>
              </a:rPr>
              <a:t>Hierarchical namespace enabled to optimize data management and analytics performance.</a:t>
            </a:r>
          </a:p>
        </p:txBody>
      </p:sp>
      <p:grpSp>
        <p:nvGrpSpPr>
          <p:cNvPr id="7" name="Group 7"/>
          <p:cNvGrpSpPr/>
          <p:nvPr/>
        </p:nvGrpSpPr>
        <p:grpSpPr>
          <a:xfrm>
            <a:off x="-835969" y="6492589"/>
            <a:ext cx="20530640" cy="4103030"/>
            <a:chOff x="0" y="0"/>
            <a:chExt cx="6872801" cy="1373523"/>
          </a:xfrm>
        </p:grpSpPr>
        <p:sp>
          <p:nvSpPr>
            <p:cNvPr id="8" name="Freeform 8"/>
            <p:cNvSpPr/>
            <p:nvPr/>
          </p:nvSpPr>
          <p:spPr>
            <a:xfrm>
              <a:off x="0" y="0"/>
              <a:ext cx="6872801" cy="1373523"/>
            </a:xfrm>
            <a:custGeom>
              <a:avLst/>
              <a:gdLst/>
              <a:ahLst/>
              <a:cxnLst/>
              <a:rect l="l" t="t" r="r" b="b"/>
              <a:pathLst>
                <a:path w="6872801" h="1373523">
                  <a:moveTo>
                    <a:pt x="0" y="0"/>
                  </a:moveTo>
                  <a:lnTo>
                    <a:pt x="6872801" y="0"/>
                  </a:lnTo>
                  <a:lnTo>
                    <a:pt x="6872801" y="1373523"/>
                  </a:lnTo>
                  <a:lnTo>
                    <a:pt x="0" y="1373523"/>
                  </a:lnTo>
                  <a:close/>
                </a:path>
              </a:pathLst>
            </a:custGeom>
            <a:solidFill>
              <a:srgbClr val="AAD7D4"/>
            </a:solidFill>
            <a:ln cap="sq">
              <a:noFill/>
              <a:prstDash val="solid"/>
              <a:miter/>
            </a:ln>
          </p:spPr>
        </p:sp>
        <p:sp>
          <p:nvSpPr>
            <p:cNvPr id="9" name="TextBox 9"/>
            <p:cNvSpPr txBox="1"/>
            <p:nvPr/>
          </p:nvSpPr>
          <p:spPr>
            <a:xfrm>
              <a:off x="0" y="85725"/>
              <a:ext cx="6872801" cy="1287798"/>
            </a:xfrm>
            <a:prstGeom prst="rect">
              <a:avLst/>
            </a:prstGeom>
          </p:spPr>
          <p:txBody>
            <a:bodyPr lIns="50800" tIns="50800" rIns="50800" bIns="50800" rtlCol="0" anchor="ctr"/>
            <a:lstStyle/>
            <a:p>
              <a:pPr algn="ctr">
                <a:lnSpc>
                  <a:spcPts val="1925"/>
                </a:lnSpc>
              </a:pPr>
              <a:endParaRPr/>
            </a:p>
          </p:txBody>
        </p:sp>
      </p:grpSp>
    </p:spTree>
  </p:cSld>
  <p:clrMapOvr>
    <a:masterClrMapping/>
  </p:clrMapOvr>
  <p:transition spd="slow">
    <p:cover dir="l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8920" y="1028700"/>
            <a:ext cx="20530640" cy="5199999"/>
            <a:chOff x="0" y="0"/>
            <a:chExt cx="6872801" cy="1740742"/>
          </a:xfrm>
        </p:grpSpPr>
        <p:sp>
          <p:nvSpPr>
            <p:cNvPr id="3" name="Freeform 3"/>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4" name="TextBox 4"/>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491865" y="1842199"/>
            <a:ext cx="4125223"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Synapse Analytics</a:t>
            </a:r>
          </a:p>
        </p:txBody>
      </p:sp>
      <p:grpSp>
        <p:nvGrpSpPr>
          <p:cNvPr id="6" name="Group 6"/>
          <p:cNvGrpSpPr/>
          <p:nvPr/>
        </p:nvGrpSpPr>
        <p:grpSpPr>
          <a:xfrm>
            <a:off x="7321856" y="4811917"/>
            <a:ext cx="8781803" cy="3129966"/>
            <a:chOff x="0" y="0"/>
            <a:chExt cx="2312903" cy="824353"/>
          </a:xfrm>
        </p:grpSpPr>
        <p:sp>
          <p:nvSpPr>
            <p:cNvPr id="7" name="Freeform 7"/>
            <p:cNvSpPr/>
            <p:nvPr/>
          </p:nvSpPr>
          <p:spPr>
            <a:xfrm>
              <a:off x="0" y="0"/>
              <a:ext cx="2312903" cy="824353"/>
            </a:xfrm>
            <a:custGeom>
              <a:avLst/>
              <a:gdLst/>
              <a:ahLst/>
              <a:cxnLst/>
              <a:rect l="l" t="t" r="r" b="b"/>
              <a:pathLst>
                <a:path w="2312903" h="824353">
                  <a:moveTo>
                    <a:pt x="26448" y="0"/>
                  </a:moveTo>
                  <a:lnTo>
                    <a:pt x="2286455" y="0"/>
                  </a:lnTo>
                  <a:cubicBezTo>
                    <a:pt x="2293470" y="0"/>
                    <a:pt x="2300197" y="2786"/>
                    <a:pt x="2305157" y="7746"/>
                  </a:cubicBezTo>
                  <a:cubicBezTo>
                    <a:pt x="2310116" y="12706"/>
                    <a:pt x="2312903" y="19433"/>
                    <a:pt x="2312903" y="26448"/>
                  </a:cubicBezTo>
                  <a:lnTo>
                    <a:pt x="2312903" y="797906"/>
                  </a:lnTo>
                  <a:cubicBezTo>
                    <a:pt x="2312903" y="804920"/>
                    <a:pt x="2310116" y="811647"/>
                    <a:pt x="2305157" y="816607"/>
                  </a:cubicBezTo>
                  <a:cubicBezTo>
                    <a:pt x="2300197" y="821567"/>
                    <a:pt x="2293470" y="824353"/>
                    <a:pt x="2286455" y="824353"/>
                  </a:cubicBezTo>
                  <a:lnTo>
                    <a:pt x="26448" y="824353"/>
                  </a:lnTo>
                  <a:cubicBezTo>
                    <a:pt x="19433" y="824353"/>
                    <a:pt x="12706" y="821567"/>
                    <a:pt x="7746" y="816607"/>
                  </a:cubicBezTo>
                  <a:cubicBezTo>
                    <a:pt x="2786" y="811647"/>
                    <a:pt x="0" y="804920"/>
                    <a:pt x="0" y="797906"/>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862453"/>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7869217" y="5246600"/>
            <a:ext cx="7687079"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Created an Azure Synapse Workspace linked with ADLS.</a:t>
            </a:r>
          </a:p>
          <a:p>
            <a:pPr marL="539749" lvl="1" indent="-269875" algn="l">
              <a:lnSpc>
                <a:spcPts val="4249"/>
              </a:lnSpc>
              <a:buFont typeface="Arial"/>
              <a:buChar char="•"/>
            </a:pPr>
            <a:r>
              <a:rPr lang="en-US" sz="2499">
                <a:solidFill>
                  <a:srgbClr val="FDFBFB"/>
                </a:solidFill>
                <a:latin typeface="Poppins"/>
                <a:ea typeface="Poppins"/>
                <a:cs typeface="Poppins"/>
                <a:sym typeface="Poppins"/>
              </a:rPr>
              <a:t>Used for querying, analyzing, and validating ingested data.</a:t>
            </a:r>
          </a:p>
        </p:txBody>
      </p:sp>
    </p:spTree>
  </p:cSld>
  <p:clrMapOvr>
    <a:masterClrMapping/>
  </p:clrMapOvr>
  <p:transition spd="slow">
    <p:cover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60013" y="1525296"/>
            <a:ext cx="4344616"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Azure SQL Database</a:t>
            </a:r>
          </a:p>
        </p:txBody>
      </p:sp>
      <p:grpSp>
        <p:nvGrpSpPr>
          <p:cNvPr id="3" name="Group 3"/>
          <p:cNvGrpSpPr/>
          <p:nvPr/>
        </p:nvGrpSpPr>
        <p:grpSpPr>
          <a:xfrm>
            <a:off x="7911834" y="1836311"/>
            <a:ext cx="8781803" cy="3511116"/>
            <a:chOff x="0" y="0"/>
            <a:chExt cx="2312903" cy="924738"/>
          </a:xfrm>
        </p:grpSpPr>
        <p:sp>
          <p:nvSpPr>
            <p:cNvPr id="4" name="Freeform 4"/>
            <p:cNvSpPr/>
            <p:nvPr/>
          </p:nvSpPr>
          <p:spPr>
            <a:xfrm>
              <a:off x="0" y="0"/>
              <a:ext cx="2312903" cy="924738"/>
            </a:xfrm>
            <a:custGeom>
              <a:avLst/>
              <a:gdLst/>
              <a:ahLst/>
              <a:cxnLst/>
              <a:rect l="l" t="t" r="r" b="b"/>
              <a:pathLst>
                <a:path w="2312903" h="924738">
                  <a:moveTo>
                    <a:pt x="26448" y="0"/>
                  </a:moveTo>
                  <a:lnTo>
                    <a:pt x="2286455" y="0"/>
                  </a:lnTo>
                  <a:cubicBezTo>
                    <a:pt x="2293470" y="0"/>
                    <a:pt x="2300197" y="2786"/>
                    <a:pt x="2305157" y="7746"/>
                  </a:cubicBezTo>
                  <a:cubicBezTo>
                    <a:pt x="2310116" y="12706"/>
                    <a:pt x="2312903" y="19433"/>
                    <a:pt x="2312903" y="26448"/>
                  </a:cubicBezTo>
                  <a:lnTo>
                    <a:pt x="2312903" y="898291"/>
                  </a:lnTo>
                  <a:cubicBezTo>
                    <a:pt x="2312903" y="905305"/>
                    <a:pt x="2310116" y="912032"/>
                    <a:pt x="2305157" y="916992"/>
                  </a:cubicBezTo>
                  <a:cubicBezTo>
                    <a:pt x="2300197" y="921952"/>
                    <a:pt x="2293470" y="924738"/>
                    <a:pt x="2286455" y="924738"/>
                  </a:cubicBezTo>
                  <a:lnTo>
                    <a:pt x="26448" y="924738"/>
                  </a:lnTo>
                  <a:cubicBezTo>
                    <a:pt x="19433" y="924738"/>
                    <a:pt x="12706" y="921952"/>
                    <a:pt x="7746" y="916992"/>
                  </a:cubicBezTo>
                  <a:cubicBezTo>
                    <a:pt x="2786" y="912032"/>
                    <a:pt x="0" y="905305"/>
                    <a:pt x="0" y="898291"/>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5" name="TextBox 5"/>
            <p:cNvSpPr txBox="1"/>
            <p:nvPr/>
          </p:nvSpPr>
          <p:spPr>
            <a:xfrm>
              <a:off x="0" y="-38100"/>
              <a:ext cx="2312903" cy="962838"/>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8702967" y="2369211"/>
            <a:ext cx="7199537"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Configured an Azure SQL Database to act as on-premises data source.</a:t>
            </a:r>
          </a:p>
          <a:p>
            <a:pPr marL="539749" lvl="1" indent="-269875" algn="l">
              <a:lnSpc>
                <a:spcPts val="4249"/>
              </a:lnSpc>
              <a:buFont typeface="Arial"/>
              <a:buChar char="•"/>
            </a:pPr>
            <a:r>
              <a:rPr lang="en-US" sz="2499">
                <a:solidFill>
                  <a:srgbClr val="FDFBFB"/>
                </a:solidFill>
                <a:latin typeface="Poppins"/>
                <a:ea typeface="Poppins"/>
                <a:cs typeface="Poppins"/>
                <a:sym typeface="Poppins"/>
              </a:rPr>
              <a:t>Holds structured data to be transferred through the pipeline.</a:t>
            </a:r>
          </a:p>
        </p:txBody>
      </p:sp>
      <p:grpSp>
        <p:nvGrpSpPr>
          <p:cNvPr id="7" name="Group 7"/>
          <p:cNvGrpSpPr/>
          <p:nvPr/>
        </p:nvGrpSpPr>
        <p:grpSpPr>
          <a:xfrm>
            <a:off x="-835969" y="6492589"/>
            <a:ext cx="20530640" cy="4103030"/>
            <a:chOff x="0" y="0"/>
            <a:chExt cx="6872801" cy="1373523"/>
          </a:xfrm>
        </p:grpSpPr>
        <p:sp>
          <p:nvSpPr>
            <p:cNvPr id="8" name="Freeform 8"/>
            <p:cNvSpPr/>
            <p:nvPr/>
          </p:nvSpPr>
          <p:spPr>
            <a:xfrm>
              <a:off x="0" y="0"/>
              <a:ext cx="6872801" cy="1373523"/>
            </a:xfrm>
            <a:custGeom>
              <a:avLst/>
              <a:gdLst/>
              <a:ahLst/>
              <a:cxnLst/>
              <a:rect l="l" t="t" r="r" b="b"/>
              <a:pathLst>
                <a:path w="6872801" h="1373523">
                  <a:moveTo>
                    <a:pt x="0" y="0"/>
                  </a:moveTo>
                  <a:lnTo>
                    <a:pt x="6872801" y="0"/>
                  </a:lnTo>
                  <a:lnTo>
                    <a:pt x="6872801" y="1373523"/>
                  </a:lnTo>
                  <a:lnTo>
                    <a:pt x="0" y="1373523"/>
                  </a:lnTo>
                  <a:close/>
                </a:path>
              </a:pathLst>
            </a:custGeom>
            <a:solidFill>
              <a:srgbClr val="AAD7D4"/>
            </a:solidFill>
            <a:ln cap="sq">
              <a:noFill/>
              <a:prstDash val="solid"/>
              <a:miter/>
            </a:ln>
          </p:spPr>
        </p:sp>
        <p:sp>
          <p:nvSpPr>
            <p:cNvPr id="9" name="TextBox 9"/>
            <p:cNvSpPr txBox="1"/>
            <p:nvPr/>
          </p:nvSpPr>
          <p:spPr>
            <a:xfrm>
              <a:off x="0" y="85725"/>
              <a:ext cx="6872801" cy="1287798"/>
            </a:xfrm>
            <a:prstGeom prst="rect">
              <a:avLst/>
            </a:prstGeom>
          </p:spPr>
          <p:txBody>
            <a:bodyPr lIns="50800" tIns="50800" rIns="50800" bIns="50800" rtlCol="0" anchor="ctr"/>
            <a:lstStyle/>
            <a:p>
              <a:pPr algn="ctr">
                <a:lnSpc>
                  <a:spcPts val="1925"/>
                </a:lnSpc>
              </a:pPr>
              <a:endParaRPr/>
            </a:p>
          </p:txBody>
        </p:sp>
      </p:grpSp>
    </p:spTree>
  </p:cSld>
  <p:clrMapOvr>
    <a:masterClrMapping/>
  </p:clrMapOvr>
  <p:transition spd="slow">
    <p:cover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8920" y="1028700"/>
            <a:ext cx="20530640" cy="5199999"/>
            <a:chOff x="0" y="0"/>
            <a:chExt cx="6872801" cy="1740742"/>
          </a:xfrm>
        </p:grpSpPr>
        <p:sp>
          <p:nvSpPr>
            <p:cNvPr id="3" name="Freeform 3"/>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4" name="TextBox 4"/>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735636" y="1862690"/>
            <a:ext cx="4734650"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Azure Data Factory</a:t>
            </a:r>
          </a:p>
        </p:txBody>
      </p:sp>
      <p:grpSp>
        <p:nvGrpSpPr>
          <p:cNvPr id="6" name="Group 6"/>
          <p:cNvGrpSpPr/>
          <p:nvPr/>
        </p:nvGrpSpPr>
        <p:grpSpPr>
          <a:xfrm>
            <a:off x="8022654" y="4217148"/>
            <a:ext cx="8781803" cy="3494729"/>
            <a:chOff x="0" y="0"/>
            <a:chExt cx="2312903" cy="920422"/>
          </a:xfrm>
        </p:grpSpPr>
        <p:sp>
          <p:nvSpPr>
            <p:cNvPr id="7" name="Freeform 7"/>
            <p:cNvSpPr/>
            <p:nvPr/>
          </p:nvSpPr>
          <p:spPr>
            <a:xfrm>
              <a:off x="0" y="0"/>
              <a:ext cx="2312903" cy="920422"/>
            </a:xfrm>
            <a:custGeom>
              <a:avLst/>
              <a:gdLst/>
              <a:ahLst/>
              <a:cxnLst/>
              <a:rect l="l" t="t" r="r" b="b"/>
              <a:pathLst>
                <a:path w="2312903" h="920422">
                  <a:moveTo>
                    <a:pt x="26448" y="0"/>
                  </a:moveTo>
                  <a:lnTo>
                    <a:pt x="2286455" y="0"/>
                  </a:lnTo>
                  <a:cubicBezTo>
                    <a:pt x="2293470" y="0"/>
                    <a:pt x="2300197" y="2786"/>
                    <a:pt x="2305157" y="7746"/>
                  </a:cubicBezTo>
                  <a:cubicBezTo>
                    <a:pt x="2310116" y="12706"/>
                    <a:pt x="2312903" y="19433"/>
                    <a:pt x="2312903" y="26448"/>
                  </a:cubicBezTo>
                  <a:lnTo>
                    <a:pt x="2312903" y="893975"/>
                  </a:lnTo>
                  <a:cubicBezTo>
                    <a:pt x="2312903" y="900989"/>
                    <a:pt x="2310116" y="907716"/>
                    <a:pt x="2305157" y="912676"/>
                  </a:cubicBezTo>
                  <a:cubicBezTo>
                    <a:pt x="2300197" y="917636"/>
                    <a:pt x="2293470" y="920422"/>
                    <a:pt x="2286455" y="920422"/>
                  </a:cubicBezTo>
                  <a:lnTo>
                    <a:pt x="26448" y="920422"/>
                  </a:lnTo>
                  <a:cubicBezTo>
                    <a:pt x="19433" y="920422"/>
                    <a:pt x="12706" y="917636"/>
                    <a:pt x="7746" y="912676"/>
                  </a:cubicBezTo>
                  <a:cubicBezTo>
                    <a:pt x="2786" y="907716"/>
                    <a:pt x="0" y="900989"/>
                    <a:pt x="0" y="893975"/>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958522"/>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8874729" y="4834212"/>
            <a:ext cx="6955767"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ADF instance deployed to design, orchestrate, and execute the pipeline.</a:t>
            </a:r>
          </a:p>
          <a:p>
            <a:pPr marL="539749" lvl="1" indent="-269875" algn="l">
              <a:lnSpc>
                <a:spcPts val="4249"/>
              </a:lnSpc>
              <a:buFont typeface="Arial"/>
              <a:buChar char="•"/>
            </a:pPr>
            <a:r>
              <a:rPr lang="en-US" sz="2499">
                <a:solidFill>
                  <a:srgbClr val="FDFBFB"/>
                </a:solidFill>
                <a:latin typeface="Poppins"/>
                <a:ea typeface="Poppins"/>
                <a:cs typeface="Poppins"/>
                <a:sym typeface="Poppins"/>
              </a:rPr>
              <a:t>Provides monitoring and debugging features for workflow reliability.</a:t>
            </a:r>
          </a:p>
        </p:txBody>
      </p:sp>
    </p:spTree>
  </p:cSld>
  <p:clrMapOvr>
    <a:masterClrMapping/>
  </p:clrMapOvr>
  <p:transition spd="slow">
    <p:cover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08767" y="1870136"/>
            <a:ext cx="5970116" cy="101155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Azure DevOps</a:t>
            </a:r>
          </a:p>
        </p:txBody>
      </p:sp>
      <p:grpSp>
        <p:nvGrpSpPr>
          <p:cNvPr id="3" name="Group 3"/>
          <p:cNvGrpSpPr/>
          <p:nvPr/>
        </p:nvGrpSpPr>
        <p:grpSpPr>
          <a:xfrm>
            <a:off x="-835969" y="6492589"/>
            <a:ext cx="20530640" cy="4103030"/>
            <a:chOff x="0" y="0"/>
            <a:chExt cx="6872801" cy="1373523"/>
          </a:xfrm>
        </p:grpSpPr>
        <p:sp>
          <p:nvSpPr>
            <p:cNvPr id="4" name="Freeform 4"/>
            <p:cNvSpPr/>
            <p:nvPr/>
          </p:nvSpPr>
          <p:spPr>
            <a:xfrm>
              <a:off x="0" y="0"/>
              <a:ext cx="6872801" cy="1373523"/>
            </a:xfrm>
            <a:custGeom>
              <a:avLst/>
              <a:gdLst/>
              <a:ahLst/>
              <a:cxnLst/>
              <a:rect l="l" t="t" r="r" b="b"/>
              <a:pathLst>
                <a:path w="6872801" h="1373523">
                  <a:moveTo>
                    <a:pt x="0" y="0"/>
                  </a:moveTo>
                  <a:lnTo>
                    <a:pt x="6872801" y="0"/>
                  </a:lnTo>
                  <a:lnTo>
                    <a:pt x="6872801" y="1373523"/>
                  </a:lnTo>
                  <a:lnTo>
                    <a:pt x="0" y="1373523"/>
                  </a:lnTo>
                  <a:close/>
                </a:path>
              </a:pathLst>
            </a:custGeom>
            <a:solidFill>
              <a:srgbClr val="AAD7D4"/>
            </a:solidFill>
            <a:ln cap="sq">
              <a:noFill/>
              <a:prstDash val="solid"/>
              <a:miter/>
            </a:ln>
          </p:spPr>
        </p:sp>
        <p:sp>
          <p:nvSpPr>
            <p:cNvPr id="5" name="TextBox 5"/>
            <p:cNvSpPr txBox="1"/>
            <p:nvPr/>
          </p:nvSpPr>
          <p:spPr>
            <a:xfrm>
              <a:off x="0" y="85725"/>
              <a:ext cx="6872801" cy="1287798"/>
            </a:xfrm>
            <a:prstGeom prst="rect">
              <a:avLst/>
            </a:prstGeom>
          </p:spPr>
          <p:txBody>
            <a:bodyPr lIns="50800" tIns="50800" rIns="50800" bIns="50800" rtlCol="0" anchor="ctr"/>
            <a:lstStyle/>
            <a:p>
              <a:pPr algn="ctr">
                <a:lnSpc>
                  <a:spcPts val="1925"/>
                </a:lnSpc>
              </a:pPr>
              <a:endParaRPr/>
            </a:p>
          </p:txBody>
        </p:sp>
      </p:grpSp>
      <p:grpSp>
        <p:nvGrpSpPr>
          <p:cNvPr id="6" name="Group 6"/>
          <p:cNvGrpSpPr/>
          <p:nvPr/>
        </p:nvGrpSpPr>
        <p:grpSpPr>
          <a:xfrm>
            <a:off x="9144000" y="5143500"/>
            <a:ext cx="8115300" cy="3018603"/>
            <a:chOff x="0" y="0"/>
            <a:chExt cx="2137363" cy="795023"/>
          </a:xfrm>
        </p:grpSpPr>
        <p:sp>
          <p:nvSpPr>
            <p:cNvPr id="7" name="Freeform 7"/>
            <p:cNvSpPr/>
            <p:nvPr/>
          </p:nvSpPr>
          <p:spPr>
            <a:xfrm>
              <a:off x="0" y="0"/>
              <a:ext cx="2137363" cy="795023"/>
            </a:xfrm>
            <a:custGeom>
              <a:avLst/>
              <a:gdLst/>
              <a:ahLst/>
              <a:cxnLst/>
              <a:rect l="l" t="t" r="r" b="b"/>
              <a:pathLst>
                <a:path w="2137363" h="795023">
                  <a:moveTo>
                    <a:pt x="28620" y="0"/>
                  </a:moveTo>
                  <a:lnTo>
                    <a:pt x="2108743" y="0"/>
                  </a:lnTo>
                  <a:cubicBezTo>
                    <a:pt x="2116334" y="0"/>
                    <a:pt x="2123613" y="3015"/>
                    <a:pt x="2128981" y="8383"/>
                  </a:cubicBezTo>
                  <a:cubicBezTo>
                    <a:pt x="2134348" y="13750"/>
                    <a:pt x="2137363" y="21029"/>
                    <a:pt x="2137363" y="28620"/>
                  </a:cubicBezTo>
                  <a:lnTo>
                    <a:pt x="2137363" y="766403"/>
                  </a:lnTo>
                  <a:cubicBezTo>
                    <a:pt x="2137363" y="782209"/>
                    <a:pt x="2124549" y="795023"/>
                    <a:pt x="2108743" y="795023"/>
                  </a:cubicBezTo>
                  <a:lnTo>
                    <a:pt x="28620" y="795023"/>
                  </a:lnTo>
                  <a:cubicBezTo>
                    <a:pt x="12813" y="795023"/>
                    <a:pt x="0" y="782209"/>
                    <a:pt x="0" y="766403"/>
                  </a:cubicBezTo>
                  <a:lnTo>
                    <a:pt x="0" y="28620"/>
                  </a:lnTo>
                  <a:cubicBezTo>
                    <a:pt x="0" y="12813"/>
                    <a:pt x="12813" y="0"/>
                    <a:pt x="28620" y="0"/>
                  </a:cubicBezTo>
                  <a:close/>
                </a:path>
              </a:pathLst>
            </a:custGeom>
            <a:solidFill>
              <a:srgbClr val="106861"/>
            </a:solidFill>
          </p:spPr>
        </p:sp>
        <p:sp>
          <p:nvSpPr>
            <p:cNvPr id="8" name="TextBox 8"/>
            <p:cNvSpPr txBox="1"/>
            <p:nvPr/>
          </p:nvSpPr>
          <p:spPr>
            <a:xfrm>
              <a:off x="0" y="-38100"/>
              <a:ext cx="2137363" cy="833123"/>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9729050" y="5522501"/>
            <a:ext cx="6224454"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Organization, project, and repository set up.</a:t>
            </a:r>
          </a:p>
          <a:p>
            <a:pPr marL="539749" lvl="1" indent="-269875" algn="l">
              <a:lnSpc>
                <a:spcPts val="4249"/>
              </a:lnSpc>
              <a:buFont typeface="Arial"/>
              <a:buChar char="•"/>
            </a:pPr>
            <a:r>
              <a:rPr lang="en-US" sz="2499">
                <a:solidFill>
                  <a:srgbClr val="FDFBFB"/>
                </a:solidFill>
                <a:latin typeface="Poppins"/>
                <a:ea typeface="Poppins"/>
                <a:cs typeface="Poppins"/>
                <a:sym typeface="Poppins"/>
              </a:rPr>
              <a:t>Repository initialized with README and linked to ADF for Git integration</a:t>
            </a:r>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83134" y="1616740"/>
            <a:ext cx="6830714" cy="1286711"/>
            <a:chOff x="0" y="0"/>
            <a:chExt cx="2286638" cy="430737"/>
          </a:xfrm>
        </p:grpSpPr>
        <p:sp>
          <p:nvSpPr>
            <p:cNvPr id="3" name="Freeform 3"/>
            <p:cNvSpPr/>
            <p:nvPr/>
          </p:nvSpPr>
          <p:spPr>
            <a:xfrm>
              <a:off x="0" y="0"/>
              <a:ext cx="2286638" cy="430737"/>
            </a:xfrm>
            <a:custGeom>
              <a:avLst/>
              <a:gdLst/>
              <a:ahLst/>
              <a:cxnLst/>
              <a:rect l="l" t="t" r="r" b="b"/>
              <a:pathLst>
                <a:path w="2286638" h="430737">
                  <a:moveTo>
                    <a:pt x="22668" y="0"/>
                  </a:moveTo>
                  <a:lnTo>
                    <a:pt x="2263970" y="0"/>
                  </a:lnTo>
                  <a:cubicBezTo>
                    <a:pt x="2276489" y="0"/>
                    <a:pt x="2286638" y="10149"/>
                    <a:pt x="2286638" y="22668"/>
                  </a:cubicBezTo>
                  <a:lnTo>
                    <a:pt x="2286638" y="408069"/>
                  </a:lnTo>
                  <a:cubicBezTo>
                    <a:pt x="2286638" y="414081"/>
                    <a:pt x="2284250" y="419847"/>
                    <a:pt x="2279998" y="424098"/>
                  </a:cubicBezTo>
                  <a:cubicBezTo>
                    <a:pt x="2275747" y="428349"/>
                    <a:pt x="2269982" y="430737"/>
                    <a:pt x="2263970" y="430737"/>
                  </a:cubicBezTo>
                  <a:lnTo>
                    <a:pt x="22668" y="430737"/>
                  </a:lnTo>
                  <a:cubicBezTo>
                    <a:pt x="16656" y="430737"/>
                    <a:pt x="10890" y="428349"/>
                    <a:pt x="6639" y="424098"/>
                  </a:cubicBezTo>
                  <a:cubicBezTo>
                    <a:pt x="2388" y="419847"/>
                    <a:pt x="0" y="414081"/>
                    <a:pt x="0" y="408069"/>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id="4" name="TextBox 4"/>
            <p:cNvSpPr txBox="1"/>
            <p:nvPr/>
          </p:nvSpPr>
          <p:spPr>
            <a:xfrm>
              <a:off x="0" y="85725"/>
              <a:ext cx="2286638" cy="345012"/>
            </a:xfrm>
            <a:prstGeom prst="rect">
              <a:avLst/>
            </a:prstGeom>
          </p:spPr>
          <p:txBody>
            <a:bodyPr lIns="50800" tIns="50800" rIns="50800" bIns="50800" rtlCol="0" anchor="ctr"/>
            <a:lstStyle/>
            <a:p>
              <a:pPr algn="ctr">
                <a:lnSpc>
                  <a:spcPts val="1925"/>
                </a:lnSpc>
              </a:pPr>
              <a:endParaRPr/>
            </a:p>
          </p:txBody>
        </p:sp>
      </p:grpSp>
      <p:grpSp>
        <p:nvGrpSpPr>
          <p:cNvPr id="5" name="Group 5"/>
          <p:cNvGrpSpPr/>
          <p:nvPr/>
        </p:nvGrpSpPr>
        <p:grpSpPr>
          <a:xfrm>
            <a:off x="10083134" y="3486722"/>
            <a:ext cx="6830714" cy="1207312"/>
            <a:chOff x="0" y="0"/>
            <a:chExt cx="2286638" cy="404158"/>
          </a:xfrm>
        </p:grpSpPr>
        <p:sp>
          <p:nvSpPr>
            <p:cNvPr id="6" name="Freeform 6"/>
            <p:cNvSpPr/>
            <p:nvPr/>
          </p:nvSpPr>
          <p:spPr>
            <a:xfrm>
              <a:off x="0" y="0"/>
              <a:ext cx="2286638" cy="404158"/>
            </a:xfrm>
            <a:custGeom>
              <a:avLst/>
              <a:gdLst/>
              <a:ahLst/>
              <a:cxnLst/>
              <a:rect l="l" t="t" r="r" b="b"/>
              <a:pathLst>
                <a:path w="2286638" h="404158">
                  <a:moveTo>
                    <a:pt x="22668" y="0"/>
                  </a:moveTo>
                  <a:lnTo>
                    <a:pt x="2263970" y="0"/>
                  </a:lnTo>
                  <a:cubicBezTo>
                    <a:pt x="2276489" y="0"/>
                    <a:pt x="2286638" y="10149"/>
                    <a:pt x="2286638" y="22668"/>
                  </a:cubicBezTo>
                  <a:lnTo>
                    <a:pt x="2286638" y="381490"/>
                  </a:lnTo>
                  <a:cubicBezTo>
                    <a:pt x="2286638" y="387502"/>
                    <a:pt x="2284250" y="393267"/>
                    <a:pt x="2279998" y="397518"/>
                  </a:cubicBezTo>
                  <a:cubicBezTo>
                    <a:pt x="2275747" y="401769"/>
                    <a:pt x="2269982" y="404158"/>
                    <a:pt x="2263970" y="404158"/>
                  </a:cubicBezTo>
                  <a:lnTo>
                    <a:pt x="22668" y="404158"/>
                  </a:lnTo>
                  <a:cubicBezTo>
                    <a:pt x="16656" y="404158"/>
                    <a:pt x="10890" y="401769"/>
                    <a:pt x="6639" y="397518"/>
                  </a:cubicBezTo>
                  <a:cubicBezTo>
                    <a:pt x="2388" y="393267"/>
                    <a:pt x="0" y="387502"/>
                    <a:pt x="0" y="381490"/>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id="7" name="TextBox 7"/>
            <p:cNvSpPr txBox="1"/>
            <p:nvPr/>
          </p:nvSpPr>
          <p:spPr>
            <a:xfrm>
              <a:off x="0" y="85725"/>
              <a:ext cx="2286638" cy="318433"/>
            </a:xfrm>
            <a:prstGeom prst="rect">
              <a:avLst/>
            </a:prstGeom>
          </p:spPr>
          <p:txBody>
            <a:bodyPr lIns="50800" tIns="50800" rIns="50800" bIns="50800" rtlCol="0" anchor="ctr"/>
            <a:lstStyle/>
            <a:p>
              <a:pPr algn="ctr">
                <a:lnSpc>
                  <a:spcPts val="1925"/>
                </a:lnSpc>
              </a:pPr>
              <a:endParaRPr/>
            </a:p>
          </p:txBody>
        </p:sp>
      </p:grpSp>
      <p:grpSp>
        <p:nvGrpSpPr>
          <p:cNvPr id="8" name="Group 8"/>
          <p:cNvGrpSpPr/>
          <p:nvPr/>
        </p:nvGrpSpPr>
        <p:grpSpPr>
          <a:xfrm>
            <a:off x="10083134" y="5277305"/>
            <a:ext cx="6830714" cy="1481118"/>
            <a:chOff x="0" y="0"/>
            <a:chExt cx="2286638" cy="495816"/>
          </a:xfrm>
        </p:grpSpPr>
        <p:sp>
          <p:nvSpPr>
            <p:cNvPr id="9" name="Freeform 9"/>
            <p:cNvSpPr/>
            <p:nvPr/>
          </p:nvSpPr>
          <p:spPr>
            <a:xfrm>
              <a:off x="0" y="0"/>
              <a:ext cx="2286638" cy="495816"/>
            </a:xfrm>
            <a:custGeom>
              <a:avLst/>
              <a:gdLst/>
              <a:ahLst/>
              <a:cxnLst/>
              <a:rect l="l" t="t" r="r" b="b"/>
              <a:pathLst>
                <a:path w="2286638" h="495816">
                  <a:moveTo>
                    <a:pt x="22668" y="0"/>
                  </a:moveTo>
                  <a:lnTo>
                    <a:pt x="2263970" y="0"/>
                  </a:lnTo>
                  <a:cubicBezTo>
                    <a:pt x="2276489" y="0"/>
                    <a:pt x="2286638" y="10149"/>
                    <a:pt x="2286638" y="22668"/>
                  </a:cubicBezTo>
                  <a:lnTo>
                    <a:pt x="2286638" y="473148"/>
                  </a:lnTo>
                  <a:cubicBezTo>
                    <a:pt x="2286638" y="479160"/>
                    <a:pt x="2284250" y="484926"/>
                    <a:pt x="2279998" y="489177"/>
                  </a:cubicBezTo>
                  <a:cubicBezTo>
                    <a:pt x="2275747" y="493428"/>
                    <a:pt x="2269982" y="495816"/>
                    <a:pt x="2263970" y="495816"/>
                  </a:cubicBezTo>
                  <a:lnTo>
                    <a:pt x="22668" y="495816"/>
                  </a:lnTo>
                  <a:cubicBezTo>
                    <a:pt x="16656" y="495816"/>
                    <a:pt x="10890" y="493428"/>
                    <a:pt x="6639" y="489177"/>
                  </a:cubicBezTo>
                  <a:cubicBezTo>
                    <a:pt x="2388" y="484926"/>
                    <a:pt x="0" y="479160"/>
                    <a:pt x="0" y="473148"/>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id="10" name="TextBox 10"/>
            <p:cNvSpPr txBox="1"/>
            <p:nvPr/>
          </p:nvSpPr>
          <p:spPr>
            <a:xfrm>
              <a:off x="0" y="85725"/>
              <a:ext cx="2286638" cy="410091"/>
            </a:xfrm>
            <a:prstGeom prst="rect">
              <a:avLst/>
            </a:prstGeom>
          </p:spPr>
          <p:txBody>
            <a:bodyPr lIns="50800" tIns="50800" rIns="50800" bIns="50800" rtlCol="0" anchor="ctr"/>
            <a:lstStyle/>
            <a:p>
              <a:pPr algn="ctr">
                <a:lnSpc>
                  <a:spcPts val="1925"/>
                </a:lnSpc>
              </a:pPr>
              <a:endParaRPr/>
            </a:p>
          </p:txBody>
        </p:sp>
      </p:grpSp>
      <p:sp>
        <p:nvSpPr>
          <p:cNvPr id="11" name="TextBox 11"/>
          <p:cNvSpPr txBox="1"/>
          <p:nvPr/>
        </p:nvSpPr>
        <p:spPr>
          <a:xfrm>
            <a:off x="1784390" y="1815418"/>
            <a:ext cx="4539633"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Project Objectives</a:t>
            </a:r>
          </a:p>
        </p:txBody>
      </p:sp>
      <p:sp>
        <p:nvSpPr>
          <p:cNvPr id="12" name="TextBox 12"/>
          <p:cNvSpPr txBox="1"/>
          <p:nvPr/>
        </p:nvSpPr>
        <p:spPr>
          <a:xfrm>
            <a:off x="10506761" y="1824466"/>
            <a:ext cx="5795137" cy="873780"/>
          </a:xfrm>
          <a:prstGeom prst="rect">
            <a:avLst/>
          </a:prstGeom>
        </p:spPr>
        <p:txBody>
          <a:bodyPr lIns="0" tIns="0" rIns="0" bIns="0" rtlCol="0" anchor="t">
            <a:spAutoFit/>
          </a:bodyPr>
          <a:lstStyle/>
          <a:p>
            <a:pPr marL="0" lvl="0" indent="0" algn="ctr">
              <a:lnSpc>
                <a:spcPts val="3480"/>
              </a:lnSpc>
            </a:pPr>
            <a:r>
              <a:rPr lang="en-US" sz="2384">
                <a:solidFill>
                  <a:srgbClr val="1C2120"/>
                </a:solidFill>
                <a:latin typeface="Poppins"/>
                <a:ea typeface="Poppins"/>
                <a:cs typeface="Poppins"/>
                <a:sym typeface="Poppins"/>
              </a:rPr>
              <a:t>Establi</a:t>
            </a:r>
            <a:r>
              <a:rPr lang="en-US" sz="2384" u="none">
                <a:solidFill>
                  <a:srgbClr val="1C2120"/>
                </a:solidFill>
                <a:latin typeface="Poppins"/>
                <a:ea typeface="Poppins"/>
                <a:cs typeface="Poppins"/>
                <a:sym typeface="Poppins"/>
              </a:rPr>
              <a:t>sh a pipeline to move data efficiently.</a:t>
            </a:r>
          </a:p>
        </p:txBody>
      </p:sp>
      <p:sp>
        <p:nvSpPr>
          <p:cNvPr id="13" name="TextBox 13"/>
          <p:cNvSpPr txBox="1"/>
          <p:nvPr/>
        </p:nvSpPr>
        <p:spPr>
          <a:xfrm>
            <a:off x="10695084" y="3846348"/>
            <a:ext cx="5777455" cy="421386"/>
          </a:xfrm>
          <a:prstGeom prst="rect">
            <a:avLst/>
          </a:prstGeom>
        </p:spPr>
        <p:txBody>
          <a:bodyPr lIns="0" tIns="0" rIns="0" bIns="0" rtlCol="0" anchor="t">
            <a:spAutoFit/>
          </a:bodyPr>
          <a:lstStyle/>
          <a:p>
            <a:pPr marL="0" lvl="0" indent="0" algn="ctr">
              <a:lnSpc>
                <a:spcPts val="3212"/>
              </a:lnSpc>
              <a:spcBef>
                <a:spcPct val="0"/>
              </a:spcBef>
            </a:pPr>
            <a:r>
              <a:rPr lang="en-US" sz="2379" spc="38">
                <a:solidFill>
                  <a:srgbClr val="1C2120"/>
                </a:solidFill>
                <a:latin typeface="Poppins"/>
                <a:ea typeface="Poppins"/>
                <a:cs typeface="Poppins"/>
                <a:sym typeface="Poppins"/>
              </a:rPr>
              <a:t>Auto</a:t>
            </a:r>
            <a:r>
              <a:rPr lang="en-US" sz="2379" u="none" spc="38">
                <a:solidFill>
                  <a:srgbClr val="1C2120"/>
                </a:solidFill>
                <a:latin typeface="Poppins"/>
                <a:ea typeface="Poppins"/>
                <a:cs typeface="Poppins"/>
                <a:sym typeface="Poppins"/>
              </a:rPr>
              <a:t>mate pipeline execution via ADF.</a:t>
            </a:r>
          </a:p>
        </p:txBody>
      </p:sp>
      <p:sp>
        <p:nvSpPr>
          <p:cNvPr id="14" name="TextBox 14"/>
          <p:cNvSpPr txBox="1"/>
          <p:nvPr/>
        </p:nvSpPr>
        <p:spPr>
          <a:xfrm>
            <a:off x="10695084" y="5583347"/>
            <a:ext cx="5606815" cy="811883"/>
          </a:xfrm>
          <a:prstGeom prst="rect">
            <a:avLst/>
          </a:prstGeom>
        </p:spPr>
        <p:txBody>
          <a:bodyPr lIns="0" tIns="0" rIns="0" bIns="0" rtlCol="0" anchor="t">
            <a:spAutoFit/>
          </a:bodyPr>
          <a:lstStyle/>
          <a:p>
            <a:pPr marL="0" lvl="0" indent="0" algn="ctr">
              <a:lnSpc>
                <a:spcPts val="3214"/>
              </a:lnSpc>
              <a:spcBef>
                <a:spcPct val="0"/>
              </a:spcBef>
            </a:pPr>
            <a:r>
              <a:rPr lang="en-US" sz="2381" spc="38">
                <a:solidFill>
                  <a:srgbClr val="1C2120"/>
                </a:solidFill>
                <a:latin typeface="Poppins"/>
                <a:ea typeface="Poppins"/>
                <a:cs typeface="Poppins"/>
                <a:sym typeface="Poppins"/>
              </a:rPr>
              <a:t>Im</a:t>
            </a:r>
            <a:r>
              <a:rPr lang="en-US" sz="2381" u="none" spc="38">
                <a:solidFill>
                  <a:srgbClr val="1C2120"/>
                </a:solidFill>
                <a:latin typeface="Poppins"/>
                <a:ea typeface="Poppins"/>
                <a:cs typeface="Poppins"/>
                <a:sym typeface="Poppins"/>
              </a:rPr>
              <a:t>plement version control through Azure DevOps.</a:t>
            </a:r>
          </a:p>
        </p:txBody>
      </p:sp>
      <p:grpSp>
        <p:nvGrpSpPr>
          <p:cNvPr id="15" name="Group 15"/>
          <p:cNvGrpSpPr/>
          <p:nvPr/>
        </p:nvGrpSpPr>
        <p:grpSpPr>
          <a:xfrm>
            <a:off x="10083134" y="7339447"/>
            <a:ext cx="6830714" cy="1481118"/>
            <a:chOff x="0" y="0"/>
            <a:chExt cx="2286638" cy="495816"/>
          </a:xfrm>
        </p:grpSpPr>
        <p:sp>
          <p:nvSpPr>
            <p:cNvPr id="16" name="Freeform 16"/>
            <p:cNvSpPr/>
            <p:nvPr/>
          </p:nvSpPr>
          <p:spPr>
            <a:xfrm>
              <a:off x="0" y="0"/>
              <a:ext cx="2286638" cy="495816"/>
            </a:xfrm>
            <a:custGeom>
              <a:avLst/>
              <a:gdLst/>
              <a:ahLst/>
              <a:cxnLst/>
              <a:rect l="l" t="t" r="r" b="b"/>
              <a:pathLst>
                <a:path w="2286638" h="495816">
                  <a:moveTo>
                    <a:pt x="22668" y="0"/>
                  </a:moveTo>
                  <a:lnTo>
                    <a:pt x="2263970" y="0"/>
                  </a:lnTo>
                  <a:cubicBezTo>
                    <a:pt x="2276489" y="0"/>
                    <a:pt x="2286638" y="10149"/>
                    <a:pt x="2286638" y="22668"/>
                  </a:cubicBezTo>
                  <a:lnTo>
                    <a:pt x="2286638" y="473148"/>
                  </a:lnTo>
                  <a:cubicBezTo>
                    <a:pt x="2286638" y="479160"/>
                    <a:pt x="2284250" y="484926"/>
                    <a:pt x="2279998" y="489177"/>
                  </a:cubicBezTo>
                  <a:cubicBezTo>
                    <a:pt x="2275747" y="493428"/>
                    <a:pt x="2269982" y="495816"/>
                    <a:pt x="2263970" y="495816"/>
                  </a:cubicBezTo>
                  <a:lnTo>
                    <a:pt x="22668" y="495816"/>
                  </a:lnTo>
                  <a:cubicBezTo>
                    <a:pt x="16656" y="495816"/>
                    <a:pt x="10890" y="493428"/>
                    <a:pt x="6639" y="489177"/>
                  </a:cubicBezTo>
                  <a:cubicBezTo>
                    <a:pt x="2388" y="484926"/>
                    <a:pt x="0" y="479160"/>
                    <a:pt x="0" y="473148"/>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id="17" name="TextBox 17"/>
            <p:cNvSpPr txBox="1"/>
            <p:nvPr/>
          </p:nvSpPr>
          <p:spPr>
            <a:xfrm>
              <a:off x="0" y="85725"/>
              <a:ext cx="2286638" cy="410091"/>
            </a:xfrm>
            <a:prstGeom prst="rect">
              <a:avLst/>
            </a:prstGeom>
          </p:spPr>
          <p:txBody>
            <a:bodyPr lIns="50800" tIns="50800" rIns="50800" bIns="50800" rtlCol="0" anchor="ctr"/>
            <a:lstStyle/>
            <a:p>
              <a:pPr algn="ctr">
                <a:lnSpc>
                  <a:spcPts val="1925"/>
                </a:lnSpc>
              </a:pPr>
              <a:endParaRPr/>
            </a:p>
          </p:txBody>
        </p:sp>
      </p:grpSp>
      <p:sp>
        <p:nvSpPr>
          <p:cNvPr id="18" name="TextBox 18"/>
          <p:cNvSpPr txBox="1"/>
          <p:nvPr/>
        </p:nvSpPr>
        <p:spPr>
          <a:xfrm>
            <a:off x="10695084" y="7607232"/>
            <a:ext cx="5606815" cy="811883"/>
          </a:xfrm>
          <a:prstGeom prst="rect">
            <a:avLst/>
          </a:prstGeom>
        </p:spPr>
        <p:txBody>
          <a:bodyPr lIns="0" tIns="0" rIns="0" bIns="0" rtlCol="0" anchor="t">
            <a:spAutoFit/>
          </a:bodyPr>
          <a:lstStyle/>
          <a:p>
            <a:pPr marL="0" lvl="0" indent="0" algn="ctr">
              <a:lnSpc>
                <a:spcPts val="3214"/>
              </a:lnSpc>
              <a:spcBef>
                <a:spcPct val="0"/>
              </a:spcBef>
            </a:pPr>
            <a:r>
              <a:rPr lang="en-US" sz="2381" spc="38">
                <a:solidFill>
                  <a:srgbClr val="1C2120"/>
                </a:solidFill>
                <a:latin typeface="Poppins"/>
                <a:ea typeface="Poppins"/>
                <a:cs typeface="Poppins"/>
                <a:sym typeface="Poppins"/>
              </a:rPr>
              <a:t>Pre</a:t>
            </a:r>
            <a:r>
              <a:rPr lang="en-US" sz="2381" u="none" spc="38">
                <a:solidFill>
                  <a:srgbClr val="1C2120"/>
                </a:solidFill>
                <a:latin typeface="Poppins"/>
                <a:ea typeface="Poppins"/>
                <a:cs typeface="Poppins"/>
                <a:sym typeface="Poppins"/>
              </a:rPr>
              <a:t>pare CI/CD framework for future deployments.</a:t>
            </a:r>
          </a:p>
        </p:txBody>
      </p:sp>
    </p:spTree>
  </p:cSld>
  <p:clrMapOvr>
    <a:masterClrMapping/>
  </p:clrMapOvr>
  <p:transition spd="slow">
    <p:cover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79871" y="3007670"/>
            <a:ext cx="877120" cy="877120"/>
          </a:xfrm>
          <a:custGeom>
            <a:avLst/>
            <a:gdLst/>
            <a:ahLst/>
            <a:cxnLst/>
            <a:rect l="l" t="t" r="r" b="b"/>
            <a:pathLst>
              <a:path w="877120" h="877120">
                <a:moveTo>
                  <a:pt x="0" y="0"/>
                </a:moveTo>
                <a:lnTo>
                  <a:pt x="877121" y="0"/>
                </a:lnTo>
                <a:lnTo>
                  <a:pt x="877121" y="877121"/>
                </a:lnTo>
                <a:lnTo>
                  <a:pt x="0" y="877121"/>
                </a:lnTo>
                <a:lnTo>
                  <a:pt x="0" y="0"/>
                </a:lnTo>
                <a:close/>
              </a:path>
            </a:pathLst>
          </a:custGeom>
          <a:blipFill>
            <a:blip r:embed="rId2"/>
            <a:stretch>
              <a:fillRect/>
            </a:stretch>
          </a:blipFill>
        </p:spPr>
      </p:sp>
      <p:sp>
        <p:nvSpPr>
          <p:cNvPr id="3" name="Freeform 3"/>
          <p:cNvSpPr/>
          <p:nvPr/>
        </p:nvSpPr>
        <p:spPr>
          <a:xfrm>
            <a:off x="8342912" y="4522966"/>
            <a:ext cx="886222" cy="886222"/>
          </a:xfrm>
          <a:custGeom>
            <a:avLst/>
            <a:gdLst/>
            <a:ahLst/>
            <a:cxnLst/>
            <a:rect l="l" t="t" r="r" b="b"/>
            <a:pathLst>
              <a:path w="886222" h="886222">
                <a:moveTo>
                  <a:pt x="0" y="0"/>
                </a:moveTo>
                <a:lnTo>
                  <a:pt x="886221" y="0"/>
                </a:lnTo>
                <a:lnTo>
                  <a:pt x="886221" y="886221"/>
                </a:lnTo>
                <a:lnTo>
                  <a:pt x="0" y="886221"/>
                </a:lnTo>
                <a:lnTo>
                  <a:pt x="0" y="0"/>
                </a:lnTo>
                <a:close/>
              </a:path>
            </a:pathLst>
          </a:custGeom>
          <a:blipFill>
            <a:blip r:embed="rId3"/>
            <a:stretch>
              <a:fillRect/>
            </a:stretch>
          </a:blipFill>
        </p:spPr>
      </p:sp>
      <p:sp>
        <p:nvSpPr>
          <p:cNvPr id="4" name="Freeform 4"/>
          <p:cNvSpPr/>
          <p:nvPr/>
        </p:nvSpPr>
        <p:spPr>
          <a:xfrm>
            <a:off x="8290676" y="6047362"/>
            <a:ext cx="990692" cy="990692"/>
          </a:xfrm>
          <a:custGeom>
            <a:avLst/>
            <a:gdLst/>
            <a:ahLst/>
            <a:cxnLst/>
            <a:rect l="l" t="t" r="r" b="b"/>
            <a:pathLst>
              <a:path w="990692" h="990692">
                <a:moveTo>
                  <a:pt x="0" y="0"/>
                </a:moveTo>
                <a:lnTo>
                  <a:pt x="990693" y="0"/>
                </a:lnTo>
                <a:lnTo>
                  <a:pt x="990693" y="990693"/>
                </a:lnTo>
                <a:lnTo>
                  <a:pt x="0" y="990693"/>
                </a:lnTo>
                <a:lnTo>
                  <a:pt x="0" y="0"/>
                </a:lnTo>
                <a:close/>
              </a:path>
            </a:pathLst>
          </a:custGeom>
          <a:blipFill>
            <a:blip r:embed="rId4"/>
            <a:stretch>
              <a:fillRect/>
            </a:stretch>
          </a:blipFill>
        </p:spPr>
      </p:sp>
      <p:sp>
        <p:nvSpPr>
          <p:cNvPr id="5" name="Freeform 5"/>
          <p:cNvSpPr/>
          <p:nvPr/>
        </p:nvSpPr>
        <p:spPr>
          <a:xfrm>
            <a:off x="7092856" y="6108382"/>
            <a:ext cx="929673" cy="929673"/>
          </a:xfrm>
          <a:custGeom>
            <a:avLst/>
            <a:gdLst/>
            <a:ahLst/>
            <a:cxnLst/>
            <a:rect l="l" t="t" r="r" b="b"/>
            <a:pathLst>
              <a:path w="929673" h="929673">
                <a:moveTo>
                  <a:pt x="0" y="0"/>
                </a:moveTo>
                <a:lnTo>
                  <a:pt x="929672" y="0"/>
                </a:lnTo>
                <a:lnTo>
                  <a:pt x="929672" y="929673"/>
                </a:lnTo>
                <a:lnTo>
                  <a:pt x="0" y="929673"/>
                </a:lnTo>
                <a:lnTo>
                  <a:pt x="0" y="0"/>
                </a:lnTo>
                <a:close/>
              </a:path>
            </a:pathLst>
          </a:custGeom>
          <a:blipFill>
            <a:blip r:embed="rId5"/>
            <a:stretch>
              <a:fillRect/>
            </a:stretch>
          </a:blipFill>
        </p:spPr>
      </p:sp>
      <p:sp>
        <p:nvSpPr>
          <p:cNvPr id="6" name="Freeform 6"/>
          <p:cNvSpPr/>
          <p:nvPr/>
        </p:nvSpPr>
        <p:spPr>
          <a:xfrm>
            <a:off x="8379871" y="1550528"/>
            <a:ext cx="877120" cy="821606"/>
          </a:xfrm>
          <a:custGeom>
            <a:avLst/>
            <a:gdLst/>
            <a:ahLst/>
            <a:cxnLst/>
            <a:rect l="l" t="t" r="r" b="b"/>
            <a:pathLst>
              <a:path w="877120" h="821606">
                <a:moveTo>
                  <a:pt x="0" y="0"/>
                </a:moveTo>
                <a:lnTo>
                  <a:pt x="877121" y="0"/>
                </a:lnTo>
                <a:lnTo>
                  <a:pt x="877121" y="821607"/>
                </a:lnTo>
                <a:lnTo>
                  <a:pt x="0" y="821607"/>
                </a:lnTo>
                <a:lnTo>
                  <a:pt x="0" y="0"/>
                </a:lnTo>
                <a:close/>
              </a:path>
            </a:pathLst>
          </a:custGeom>
          <a:blipFill>
            <a:blip r:embed="rId6"/>
            <a:stretch>
              <a:fillRect/>
            </a:stretch>
          </a:blipFill>
        </p:spPr>
      </p:sp>
      <p:sp>
        <p:nvSpPr>
          <p:cNvPr id="7" name="TextBox 7"/>
          <p:cNvSpPr txBox="1"/>
          <p:nvPr/>
        </p:nvSpPr>
        <p:spPr>
          <a:xfrm>
            <a:off x="1589373" y="1574685"/>
            <a:ext cx="4813753" cy="913765"/>
          </a:xfrm>
          <a:prstGeom prst="rect">
            <a:avLst/>
          </a:prstGeom>
        </p:spPr>
        <p:txBody>
          <a:bodyPr lIns="0" tIns="0" rIns="0" bIns="0" rtlCol="0" anchor="t">
            <a:spAutoFit/>
          </a:bodyPr>
          <a:lstStyle/>
          <a:p>
            <a:pPr marL="0" lvl="1" indent="0" algn="l">
              <a:lnSpc>
                <a:spcPts val="6305"/>
              </a:lnSpc>
              <a:spcBef>
                <a:spcPct val="0"/>
              </a:spcBef>
            </a:pPr>
            <a:r>
              <a:rPr lang="en-US" sz="6500" b="1">
                <a:solidFill>
                  <a:srgbClr val="1C2120"/>
                </a:solidFill>
                <a:latin typeface="Poppins Bold"/>
                <a:ea typeface="Poppins Bold"/>
                <a:cs typeface="Poppins Bold"/>
                <a:sym typeface="Poppins Bold"/>
              </a:rPr>
              <a:t> Tools Used</a:t>
            </a:r>
          </a:p>
        </p:txBody>
      </p:sp>
      <p:sp>
        <p:nvSpPr>
          <p:cNvPr id="8" name="TextBox 8"/>
          <p:cNvSpPr txBox="1"/>
          <p:nvPr/>
        </p:nvSpPr>
        <p:spPr>
          <a:xfrm>
            <a:off x="9732879" y="1798205"/>
            <a:ext cx="6290068" cy="381000"/>
          </a:xfrm>
          <a:prstGeom prst="rect">
            <a:avLst/>
          </a:prstGeom>
        </p:spPr>
        <p:txBody>
          <a:bodyPr lIns="0" tIns="0" rIns="0" bIns="0" rtlCol="0" anchor="t">
            <a:spAutoFit/>
          </a:bodyPr>
          <a:lstStyle/>
          <a:p>
            <a:pPr algn="l">
              <a:lnSpc>
                <a:spcPts val="2849"/>
              </a:lnSpc>
              <a:spcBef>
                <a:spcPct val="0"/>
              </a:spcBef>
            </a:pPr>
            <a:r>
              <a:rPr lang="en-US" sz="2499" b="1">
                <a:solidFill>
                  <a:srgbClr val="1C2120"/>
                </a:solidFill>
                <a:latin typeface="Poppins Bold"/>
                <a:ea typeface="Poppins Bold"/>
                <a:cs typeface="Poppins Bold"/>
                <a:sym typeface="Poppins Bold"/>
              </a:rPr>
              <a:t>Azure Portal –</a:t>
            </a:r>
            <a:r>
              <a:rPr lang="en-US" sz="2499">
                <a:solidFill>
                  <a:srgbClr val="1C2120"/>
                </a:solidFill>
                <a:latin typeface="Poppins"/>
                <a:ea typeface="Poppins"/>
                <a:cs typeface="Poppins"/>
                <a:sym typeface="Poppins"/>
              </a:rPr>
              <a:t> Resource management.</a:t>
            </a:r>
          </a:p>
        </p:txBody>
      </p:sp>
      <p:sp>
        <p:nvSpPr>
          <p:cNvPr id="9" name="TextBox 9"/>
          <p:cNvSpPr txBox="1"/>
          <p:nvPr/>
        </p:nvSpPr>
        <p:spPr>
          <a:xfrm>
            <a:off x="9732879" y="3250968"/>
            <a:ext cx="7063256" cy="381000"/>
          </a:xfrm>
          <a:prstGeom prst="rect">
            <a:avLst/>
          </a:prstGeom>
        </p:spPr>
        <p:txBody>
          <a:bodyPr lIns="0" tIns="0" rIns="0" bIns="0" rtlCol="0" anchor="t">
            <a:spAutoFit/>
          </a:bodyPr>
          <a:lstStyle/>
          <a:p>
            <a:pPr algn="l">
              <a:lnSpc>
                <a:spcPts val="2849"/>
              </a:lnSpc>
              <a:spcBef>
                <a:spcPct val="0"/>
              </a:spcBef>
            </a:pPr>
            <a:r>
              <a:rPr lang="en-US" sz="2499" b="1">
                <a:solidFill>
                  <a:srgbClr val="1C2120"/>
                </a:solidFill>
                <a:latin typeface="Poppins Bold"/>
                <a:ea typeface="Poppins Bold"/>
                <a:cs typeface="Poppins Bold"/>
                <a:sym typeface="Poppins Bold"/>
              </a:rPr>
              <a:t>Azure Data Factory –</a:t>
            </a:r>
            <a:r>
              <a:rPr lang="en-US" sz="2499">
                <a:solidFill>
                  <a:srgbClr val="1C2120"/>
                </a:solidFill>
                <a:latin typeface="Poppins"/>
                <a:ea typeface="Poppins"/>
                <a:cs typeface="Poppins"/>
                <a:sym typeface="Poppins"/>
              </a:rPr>
              <a:t> Pipeline orchestration.</a:t>
            </a:r>
          </a:p>
        </p:txBody>
      </p:sp>
      <p:sp>
        <p:nvSpPr>
          <p:cNvPr id="10" name="TextBox 10"/>
          <p:cNvSpPr txBox="1"/>
          <p:nvPr/>
        </p:nvSpPr>
        <p:spPr>
          <a:xfrm>
            <a:off x="9757256" y="4770814"/>
            <a:ext cx="6460707" cy="381000"/>
          </a:xfrm>
          <a:prstGeom prst="rect">
            <a:avLst/>
          </a:prstGeom>
        </p:spPr>
        <p:txBody>
          <a:bodyPr lIns="0" tIns="0" rIns="0" bIns="0" rtlCol="0" anchor="t">
            <a:spAutoFit/>
          </a:bodyPr>
          <a:lstStyle/>
          <a:p>
            <a:pPr algn="l">
              <a:lnSpc>
                <a:spcPts val="2849"/>
              </a:lnSpc>
              <a:spcBef>
                <a:spcPct val="0"/>
              </a:spcBef>
            </a:pPr>
            <a:r>
              <a:rPr lang="en-US" sz="2499" b="1">
                <a:solidFill>
                  <a:srgbClr val="1C2120"/>
                </a:solidFill>
                <a:latin typeface="Poppins Bold"/>
                <a:ea typeface="Poppins Bold"/>
                <a:cs typeface="Poppins Bold"/>
                <a:sym typeface="Poppins Bold"/>
              </a:rPr>
              <a:t>Azure DevOps – </a:t>
            </a:r>
            <a:r>
              <a:rPr lang="en-US" sz="2499">
                <a:solidFill>
                  <a:srgbClr val="1C2120"/>
                </a:solidFill>
                <a:latin typeface="Poppins"/>
                <a:ea typeface="Poppins"/>
                <a:cs typeface="Poppins"/>
                <a:sym typeface="Poppins"/>
              </a:rPr>
              <a:t>Version control &amp; CI/CD.</a:t>
            </a:r>
          </a:p>
        </p:txBody>
      </p:sp>
      <p:sp>
        <p:nvSpPr>
          <p:cNvPr id="11" name="TextBox 11"/>
          <p:cNvSpPr txBox="1"/>
          <p:nvPr/>
        </p:nvSpPr>
        <p:spPr>
          <a:xfrm>
            <a:off x="9757256" y="6144593"/>
            <a:ext cx="5973165" cy="882650"/>
          </a:xfrm>
          <a:prstGeom prst="rect">
            <a:avLst/>
          </a:prstGeom>
        </p:spPr>
        <p:txBody>
          <a:bodyPr lIns="0" tIns="0" rIns="0" bIns="0" rtlCol="0" anchor="t">
            <a:spAutoFit/>
          </a:bodyPr>
          <a:lstStyle/>
          <a:p>
            <a:pPr algn="l">
              <a:lnSpc>
                <a:spcPts val="3474"/>
              </a:lnSpc>
            </a:pPr>
            <a:r>
              <a:rPr lang="en-US" sz="2499" b="1">
                <a:solidFill>
                  <a:srgbClr val="1C2120"/>
                </a:solidFill>
                <a:latin typeface="Poppins Bold"/>
                <a:ea typeface="Poppins Bold"/>
                <a:cs typeface="Poppins Bold"/>
                <a:sym typeface="Poppins Bold"/>
              </a:rPr>
              <a:t>Synapse Studio &amp; SQL –</a:t>
            </a:r>
            <a:r>
              <a:rPr lang="en-US" sz="2499">
                <a:solidFill>
                  <a:srgbClr val="1C2120"/>
                </a:solidFill>
                <a:latin typeface="Poppins"/>
                <a:ea typeface="Poppins"/>
                <a:cs typeface="Poppins"/>
                <a:sym typeface="Poppins"/>
              </a:rPr>
              <a:t> Querying and validation.</a:t>
            </a:r>
          </a:p>
        </p:txBody>
      </p:sp>
      <p:grpSp>
        <p:nvGrpSpPr>
          <p:cNvPr id="12" name="Group 12"/>
          <p:cNvGrpSpPr/>
          <p:nvPr/>
        </p:nvGrpSpPr>
        <p:grpSpPr>
          <a:xfrm>
            <a:off x="-141035" y="8190580"/>
            <a:ext cx="20530640" cy="2405040"/>
            <a:chOff x="0" y="0"/>
            <a:chExt cx="6872801" cy="805107"/>
          </a:xfrm>
        </p:grpSpPr>
        <p:sp>
          <p:nvSpPr>
            <p:cNvPr id="13" name="Freeform 13"/>
            <p:cNvSpPr/>
            <p:nvPr/>
          </p:nvSpPr>
          <p:spPr>
            <a:xfrm>
              <a:off x="0" y="0"/>
              <a:ext cx="6872801" cy="805107"/>
            </a:xfrm>
            <a:custGeom>
              <a:avLst/>
              <a:gdLst/>
              <a:ahLst/>
              <a:cxnLst/>
              <a:rect l="l" t="t" r="r" b="b"/>
              <a:pathLst>
                <a:path w="6872801" h="805107">
                  <a:moveTo>
                    <a:pt x="0" y="0"/>
                  </a:moveTo>
                  <a:lnTo>
                    <a:pt x="6872801" y="0"/>
                  </a:lnTo>
                  <a:lnTo>
                    <a:pt x="6872801" y="805107"/>
                  </a:lnTo>
                  <a:lnTo>
                    <a:pt x="0" y="805107"/>
                  </a:lnTo>
                  <a:close/>
                </a:path>
              </a:pathLst>
            </a:custGeom>
            <a:solidFill>
              <a:srgbClr val="AAD7D4"/>
            </a:solidFill>
            <a:ln cap="sq">
              <a:noFill/>
              <a:prstDash val="solid"/>
              <a:miter/>
            </a:ln>
          </p:spPr>
        </p:sp>
        <p:sp>
          <p:nvSpPr>
            <p:cNvPr id="14" name="TextBox 14"/>
            <p:cNvSpPr txBox="1"/>
            <p:nvPr/>
          </p:nvSpPr>
          <p:spPr>
            <a:xfrm>
              <a:off x="0" y="85725"/>
              <a:ext cx="6872801" cy="719382"/>
            </a:xfrm>
            <a:prstGeom prst="rect">
              <a:avLst/>
            </a:prstGeom>
          </p:spPr>
          <p:txBody>
            <a:bodyPr lIns="50800" tIns="50800" rIns="50800" bIns="50800" rtlCol="0" anchor="ctr"/>
            <a:lstStyle/>
            <a:p>
              <a:pPr algn="ctr">
                <a:lnSpc>
                  <a:spcPts val="1925"/>
                </a:lnSpc>
              </a:pPr>
              <a:endParaRPr/>
            </a:p>
          </p:txBody>
        </p:sp>
      </p:grpSp>
    </p:spTree>
  </p:cSld>
  <p:clrMapOvr>
    <a:masterClrMapping/>
  </p:clrMapOvr>
  <p:transition spd="slow">
    <p:cover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62504" y="1460470"/>
            <a:ext cx="4588387"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Execution Overview</a:t>
            </a:r>
          </a:p>
        </p:txBody>
      </p:sp>
      <p:grpSp>
        <p:nvGrpSpPr>
          <p:cNvPr id="3" name="Group 3"/>
          <p:cNvGrpSpPr/>
          <p:nvPr/>
        </p:nvGrpSpPr>
        <p:grpSpPr>
          <a:xfrm>
            <a:off x="8090276" y="1672172"/>
            <a:ext cx="9342476" cy="3654455"/>
            <a:chOff x="0" y="0"/>
            <a:chExt cx="2460570" cy="962490"/>
          </a:xfrm>
        </p:grpSpPr>
        <p:sp>
          <p:nvSpPr>
            <p:cNvPr id="4" name="Freeform 4"/>
            <p:cNvSpPr/>
            <p:nvPr/>
          </p:nvSpPr>
          <p:spPr>
            <a:xfrm>
              <a:off x="0" y="0"/>
              <a:ext cx="2460570" cy="962490"/>
            </a:xfrm>
            <a:custGeom>
              <a:avLst/>
              <a:gdLst/>
              <a:ahLst/>
              <a:cxnLst/>
              <a:rect l="l" t="t" r="r" b="b"/>
              <a:pathLst>
                <a:path w="2460570" h="962490">
                  <a:moveTo>
                    <a:pt x="24860" y="0"/>
                  </a:moveTo>
                  <a:lnTo>
                    <a:pt x="2435710" y="0"/>
                  </a:lnTo>
                  <a:cubicBezTo>
                    <a:pt x="2449440" y="0"/>
                    <a:pt x="2460570" y="11130"/>
                    <a:pt x="2460570" y="24860"/>
                  </a:cubicBezTo>
                  <a:lnTo>
                    <a:pt x="2460570" y="937630"/>
                  </a:lnTo>
                  <a:cubicBezTo>
                    <a:pt x="2460570" y="951360"/>
                    <a:pt x="2449440" y="962490"/>
                    <a:pt x="2435710" y="962490"/>
                  </a:cubicBezTo>
                  <a:lnTo>
                    <a:pt x="24860" y="962490"/>
                  </a:lnTo>
                  <a:cubicBezTo>
                    <a:pt x="11130" y="962490"/>
                    <a:pt x="0" y="951360"/>
                    <a:pt x="0" y="937630"/>
                  </a:cubicBezTo>
                  <a:lnTo>
                    <a:pt x="0" y="24860"/>
                  </a:lnTo>
                  <a:cubicBezTo>
                    <a:pt x="0" y="11130"/>
                    <a:pt x="11130" y="0"/>
                    <a:pt x="24860" y="0"/>
                  </a:cubicBezTo>
                  <a:close/>
                </a:path>
              </a:pathLst>
            </a:custGeom>
            <a:solidFill>
              <a:srgbClr val="106861"/>
            </a:solidFill>
          </p:spPr>
        </p:sp>
        <p:sp>
          <p:nvSpPr>
            <p:cNvPr id="5" name="TextBox 5"/>
            <p:cNvSpPr txBox="1"/>
            <p:nvPr/>
          </p:nvSpPr>
          <p:spPr>
            <a:xfrm>
              <a:off x="0" y="-38100"/>
              <a:ext cx="2460570" cy="1000590"/>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8686392" y="1906047"/>
            <a:ext cx="8150244" cy="3186706"/>
          </a:xfrm>
          <a:prstGeom prst="rect">
            <a:avLst/>
          </a:prstGeom>
        </p:spPr>
        <p:txBody>
          <a:bodyPr lIns="0" tIns="0" rIns="0" bIns="0" rtlCol="0" anchor="t">
            <a:spAutoFit/>
          </a:bodyPr>
          <a:lstStyle/>
          <a:p>
            <a:pPr marL="539749" lvl="1" indent="-269875" algn="l">
              <a:lnSpc>
                <a:spcPts val="4249"/>
              </a:lnSpc>
              <a:buFont typeface="Arial"/>
              <a:buChar char="•"/>
            </a:pPr>
            <a:r>
              <a:rPr lang="en-US" sz="2499" dirty="0">
                <a:solidFill>
                  <a:srgbClr val="FDFBFB"/>
                </a:solidFill>
                <a:latin typeface="Poppins"/>
                <a:ea typeface="Poppins"/>
                <a:cs typeface="Poppins"/>
                <a:sym typeface="Poppins"/>
              </a:rPr>
              <a:t>Provisioned necessary resources.</a:t>
            </a:r>
          </a:p>
          <a:p>
            <a:pPr marL="539749" lvl="1" indent="-269875" algn="l">
              <a:lnSpc>
                <a:spcPts val="4249"/>
              </a:lnSpc>
              <a:buFont typeface="Arial"/>
              <a:buChar char="•"/>
            </a:pPr>
            <a:r>
              <a:rPr lang="en-US" sz="2499" dirty="0">
                <a:solidFill>
                  <a:srgbClr val="FDFBFB"/>
                </a:solidFill>
                <a:latin typeface="Poppins"/>
                <a:ea typeface="Poppins"/>
                <a:cs typeface="Poppins"/>
                <a:sym typeface="Poppins"/>
              </a:rPr>
              <a:t>Created linked services, datasets, and a pipeline.</a:t>
            </a:r>
          </a:p>
          <a:p>
            <a:pPr marL="539749" lvl="1" indent="-269875" algn="l">
              <a:lnSpc>
                <a:spcPts val="4249"/>
              </a:lnSpc>
              <a:buFont typeface="Arial"/>
              <a:buChar char="•"/>
            </a:pPr>
            <a:r>
              <a:rPr lang="en-US" sz="2499" dirty="0">
                <a:solidFill>
                  <a:srgbClr val="FDFBFB"/>
                </a:solidFill>
                <a:latin typeface="Poppins"/>
                <a:ea typeface="Poppins"/>
                <a:cs typeface="Poppins"/>
                <a:sym typeface="Poppins"/>
              </a:rPr>
              <a:t>Debugged pipeline and validated output.</a:t>
            </a:r>
          </a:p>
          <a:p>
            <a:pPr marL="539749" lvl="1" indent="-269875" algn="l">
              <a:lnSpc>
                <a:spcPts val="4249"/>
              </a:lnSpc>
              <a:buFont typeface="Arial"/>
              <a:buChar char="•"/>
            </a:pPr>
            <a:r>
              <a:rPr lang="en-US" sz="2499" dirty="0">
                <a:solidFill>
                  <a:srgbClr val="FDFBFB"/>
                </a:solidFill>
                <a:latin typeface="Poppins"/>
                <a:ea typeface="Poppins"/>
                <a:cs typeface="Poppins"/>
                <a:sym typeface="Poppins"/>
              </a:rPr>
              <a:t>Integrated with DevOps for source control.</a:t>
            </a:r>
          </a:p>
          <a:p>
            <a:pPr marL="539749" lvl="1" indent="-269875" algn="l">
              <a:lnSpc>
                <a:spcPts val="4249"/>
              </a:lnSpc>
              <a:buFont typeface="Arial"/>
              <a:buChar char="•"/>
            </a:pPr>
            <a:r>
              <a:rPr lang="en-US" sz="2499" dirty="0">
                <a:solidFill>
                  <a:srgbClr val="FDFBFB"/>
                </a:solidFill>
                <a:latin typeface="Poppins"/>
                <a:ea typeface="Poppins"/>
                <a:cs typeface="Poppins"/>
                <a:sym typeface="Poppins"/>
              </a:rPr>
              <a:t>Configured CI/CD.</a:t>
            </a:r>
          </a:p>
        </p:txBody>
      </p:sp>
      <p:grpSp>
        <p:nvGrpSpPr>
          <p:cNvPr id="7" name="Group 7"/>
          <p:cNvGrpSpPr/>
          <p:nvPr/>
        </p:nvGrpSpPr>
        <p:grpSpPr>
          <a:xfrm>
            <a:off x="-141035" y="6289167"/>
            <a:ext cx="18677981" cy="2453794"/>
            <a:chOff x="0" y="0"/>
            <a:chExt cx="6252608" cy="821428"/>
          </a:xfrm>
        </p:grpSpPr>
        <p:sp>
          <p:nvSpPr>
            <p:cNvPr id="8" name="Freeform 8"/>
            <p:cNvSpPr/>
            <p:nvPr/>
          </p:nvSpPr>
          <p:spPr>
            <a:xfrm>
              <a:off x="0" y="0"/>
              <a:ext cx="6252608" cy="821428"/>
            </a:xfrm>
            <a:custGeom>
              <a:avLst/>
              <a:gdLst/>
              <a:ahLst/>
              <a:cxnLst/>
              <a:rect l="l" t="t" r="r" b="b"/>
              <a:pathLst>
                <a:path w="6252608" h="821428">
                  <a:moveTo>
                    <a:pt x="0" y="0"/>
                  </a:moveTo>
                  <a:lnTo>
                    <a:pt x="6252608" y="0"/>
                  </a:lnTo>
                  <a:lnTo>
                    <a:pt x="6252608" y="821428"/>
                  </a:lnTo>
                  <a:lnTo>
                    <a:pt x="0" y="821428"/>
                  </a:lnTo>
                  <a:close/>
                </a:path>
              </a:pathLst>
            </a:custGeom>
            <a:solidFill>
              <a:srgbClr val="AAD7D4"/>
            </a:solidFill>
            <a:ln cap="sq">
              <a:noFill/>
              <a:prstDash val="solid"/>
              <a:miter/>
            </a:ln>
          </p:spPr>
        </p:sp>
        <p:sp>
          <p:nvSpPr>
            <p:cNvPr id="9" name="TextBox 9"/>
            <p:cNvSpPr txBox="1"/>
            <p:nvPr/>
          </p:nvSpPr>
          <p:spPr>
            <a:xfrm>
              <a:off x="0" y="85725"/>
              <a:ext cx="6252608" cy="735703"/>
            </a:xfrm>
            <a:prstGeom prst="rect">
              <a:avLst/>
            </a:prstGeom>
          </p:spPr>
          <p:txBody>
            <a:bodyPr lIns="50800" tIns="50800" rIns="50800" bIns="50800" rtlCol="0" anchor="ctr"/>
            <a:lstStyle/>
            <a:p>
              <a:pPr algn="ctr">
                <a:lnSpc>
                  <a:spcPts val="1925"/>
                </a:lnSpc>
              </a:pPr>
              <a:endParaRPr/>
            </a:p>
          </p:txBody>
        </p:sp>
      </p:grpSp>
    </p:spTree>
  </p:cSld>
  <p:clrMapOvr>
    <a:masterClrMapping/>
  </p:clrMapOvr>
  <p:transition spd="slow">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991" y="786534"/>
            <a:ext cx="18677981" cy="3885891"/>
            <a:chOff x="0" y="0"/>
            <a:chExt cx="6252608" cy="1300834"/>
          </a:xfrm>
        </p:grpSpPr>
        <p:sp>
          <p:nvSpPr>
            <p:cNvPr id="3" name="Freeform 3"/>
            <p:cNvSpPr/>
            <p:nvPr/>
          </p:nvSpPr>
          <p:spPr>
            <a:xfrm>
              <a:off x="0" y="0"/>
              <a:ext cx="6252608" cy="1300834"/>
            </a:xfrm>
            <a:custGeom>
              <a:avLst/>
              <a:gdLst/>
              <a:ahLst/>
              <a:cxnLst/>
              <a:rect l="l" t="t" r="r" b="b"/>
              <a:pathLst>
                <a:path w="6252608" h="1300834">
                  <a:moveTo>
                    <a:pt x="0" y="0"/>
                  </a:moveTo>
                  <a:lnTo>
                    <a:pt x="6252608" y="0"/>
                  </a:lnTo>
                  <a:lnTo>
                    <a:pt x="6252608" y="1300834"/>
                  </a:lnTo>
                  <a:lnTo>
                    <a:pt x="0" y="1300834"/>
                  </a:lnTo>
                  <a:close/>
                </a:path>
              </a:pathLst>
            </a:custGeom>
            <a:solidFill>
              <a:srgbClr val="AAD7D4"/>
            </a:solidFill>
            <a:ln cap="sq">
              <a:noFill/>
              <a:prstDash val="solid"/>
              <a:miter/>
            </a:ln>
          </p:spPr>
        </p:sp>
        <p:sp>
          <p:nvSpPr>
            <p:cNvPr id="4" name="TextBox 4"/>
            <p:cNvSpPr txBox="1"/>
            <p:nvPr/>
          </p:nvSpPr>
          <p:spPr>
            <a:xfrm>
              <a:off x="0" y="85725"/>
              <a:ext cx="6252608" cy="1215109"/>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255848" y="1742689"/>
            <a:ext cx="7888152"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Implementation – Linked Services</a:t>
            </a:r>
          </a:p>
        </p:txBody>
      </p:sp>
      <p:grpSp>
        <p:nvGrpSpPr>
          <p:cNvPr id="6" name="Group 6"/>
          <p:cNvGrpSpPr/>
          <p:nvPr/>
        </p:nvGrpSpPr>
        <p:grpSpPr>
          <a:xfrm>
            <a:off x="7454226" y="5610972"/>
            <a:ext cx="8781803" cy="3416047"/>
            <a:chOff x="0" y="0"/>
            <a:chExt cx="2312903" cy="899700"/>
          </a:xfrm>
        </p:grpSpPr>
        <p:sp>
          <p:nvSpPr>
            <p:cNvPr id="7" name="Freeform 7"/>
            <p:cNvSpPr/>
            <p:nvPr/>
          </p:nvSpPr>
          <p:spPr>
            <a:xfrm>
              <a:off x="0" y="0"/>
              <a:ext cx="2312903" cy="899700"/>
            </a:xfrm>
            <a:custGeom>
              <a:avLst/>
              <a:gdLst/>
              <a:ahLst/>
              <a:cxnLst/>
              <a:rect l="l" t="t" r="r" b="b"/>
              <a:pathLst>
                <a:path w="2312903" h="899700">
                  <a:moveTo>
                    <a:pt x="26448" y="0"/>
                  </a:moveTo>
                  <a:lnTo>
                    <a:pt x="2286455" y="0"/>
                  </a:lnTo>
                  <a:cubicBezTo>
                    <a:pt x="2293470" y="0"/>
                    <a:pt x="2300197" y="2786"/>
                    <a:pt x="2305157" y="7746"/>
                  </a:cubicBezTo>
                  <a:cubicBezTo>
                    <a:pt x="2310116" y="12706"/>
                    <a:pt x="2312903" y="19433"/>
                    <a:pt x="2312903" y="26448"/>
                  </a:cubicBezTo>
                  <a:lnTo>
                    <a:pt x="2312903" y="873252"/>
                  </a:lnTo>
                  <a:cubicBezTo>
                    <a:pt x="2312903" y="880266"/>
                    <a:pt x="2310116" y="886993"/>
                    <a:pt x="2305157" y="891953"/>
                  </a:cubicBezTo>
                  <a:cubicBezTo>
                    <a:pt x="2300197" y="896913"/>
                    <a:pt x="2293470" y="899700"/>
                    <a:pt x="2286455" y="899700"/>
                  </a:cubicBezTo>
                  <a:lnTo>
                    <a:pt x="26448" y="899700"/>
                  </a:lnTo>
                  <a:cubicBezTo>
                    <a:pt x="19433" y="899700"/>
                    <a:pt x="12706" y="896913"/>
                    <a:pt x="7746" y="891953"/>
                  </a:cubicBezTo>
                  <a:cubicBezTo>
                    <a:pt x="2786" y="886993"/>
                    <a:pt x="0" y="880266"/>
                    <a:pt x="0" y="873252"/>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937800"/>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8196605" y="6153058"/>
            <a:ext cx="7297046"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Defined source linked service for Azure SQL Database.</a:t>
            </a:r>
          </a:p>
          <a:p>
            <a:pPr marL="539749" lvl="1" indent="-269875" algn="l">
              <a:lnSpc>
                <a:spcPts val="4249"/>
              </a:lnSpc>
              <a:buFont typeface="Arial"/>
              <a:buChar char="•"/>
            </a:pPr>
            <a:r>
              <a:rPr lang="en-US" sz="2499">
                <a:solidFill>
                  <a:srgbClr val="FDFBFB"/>
                </a:solidFill>
                <a:latin typeface="Poppins"/>
                <a:ea typeface="Poppins"/>
                <a:cs typeface="Poppins"/>
                <a:sym typeface="Poppins"/>
              </a:rPr>
              <a:t>Defined sink linked service for ADLS Gen2 (destination storage).</a:t>
            </a:r>
          </a:p>
        </p:txBody>
      </p:sp>
    </p:spTree>
  </p:cSld>
  <p:clrMapOvr>
    <a:masterClrMapping/>
  </p:clrMapOvr>
  <p:transition spd="slow">
    <p:cover dir="l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991" y="786534"/>
            <a:ext cx="18677981" cy="3885891"/>
            <a:chOff x="0" y="0"/>
            <a:chExt cx="6252608" cy="1300834"/>
          </a:xfrm>
        </p:grpSpPr>
        <p:sp>
          <p:nvSpPr>
            <p:cNvPr id="3" name="Freeform 3"/>
            <p:cNvSpPr/>
            <p:nvPr/>
          </p:nvSpPr>
          <p:spPr>
            <a:xfrm>
              <a:off x="0" y="0"/>
              <a:ext cx="6252608" cy="1300834"/>
            </a:xfrm>
            <a:custGeom>
              <a:avLst/>
              <a:gdLst/>
              <a:ahLst/>
              <a:cxnLst/>
              <a:rect l="l" t="t" r="r" b="b"/>
              <a:pathLst>
                <a:path w="6252608" h="1300834">
                  <a:moveTo>
                    <a:pt x="0" y="0"/>
                  </a:moveTo>
                  <a:lnTo>
                    <a:pt x="6252608" y="0"/>
                  </a:lnTo>
                  <a:lnTo>
                    <a:pt x="6252608" y="1300834"/>
                  </a:lnTo>
                  <a:lnTo>
                    <a:pt x="0" y="1300834"/>
                  </a:lnTo>
                  <a:close/>
                </a:path>
              </a:pathLst>
            </a:custGeom>
            <a:solidFill>
              <a:srgbClr val="AAD7D4"/>
            </a:solidFill>
            <a:ln cap="sq">
              <a:noFill/>
              <a:prstDash val="solid"/>
              <a:miter/>
            </a:ln>
          </p:spPr>
        </p:sp>
        <p:sp>
          <p:nvSpPr>
            <p:cNvPr id="4" name="TextBox 4"/>
            <p:cNvSpPr txBox="1"/>
            <p:nvPr/>
          </p:nvSpPr>
          <p:spPr>
            <a:xfrm>
              <a:off x="0" y="85725"/>
              <a:ext cx="6252608" cy="1215109"/>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426488" y="1742689"/>
            <a:ext cx="7888152"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Implementation – Datasets</a:t>
            </a:r>
          </a:p>
        </p:txBody>
      </p:sp>
      <p:grpSp>
        <p:nvGrpSpPr>
          <p:cNvPr id="6" name="Group 6"/>
          <p:cNvGrpSpPr/>
          <p:nvPr/>
        </p:nvGrpSpPr>
        <p:grpSpPr>
          <a:xfrm>
            <a:off x="7454226" y="6269154"/>
            <a:ext cx="8781803" cy="2757865"/>
            <a:chOff x="0" y="0"/>
            <a:chExt cx="2312903" cy="726351"/>
          </a:xfrm>
        </p:grpSpPr>
        <p:sp>
          <p:nvSpPr>
            <p:cNvPr id="7" name="Freeform 7"/>
            <p:cNvSpPr/>
            <p:nvPr/>
          </p:nvSpPr>
          <p:spPr>
            <a:xfrm>
              <a:off x="0" y="0"/>
              <a:ext cx="2312903" cy="726351"/>
            </a:xfrm>
            <a:custGeom>
              <a:avLst/>
              <a:gdLst/>
              <a:ahLst/>
              <a:cxnLst/>
              <a:rect l="l" t="t" r="r" b="b"/>
              <a:pathLst>
                <a:path w="2312903" h="726351">
                  <a:moveTo>
                    <a:pt x="26448" y="0"/>
                  </a:moveTo>
                  <a:lnTo>
                    <a:pt x="2286455" y="0"/>
                  </a:lnTo>
                  <a:cubicBezTo>
                    <a:pt x="2293470" y="0"/>
                    <a:pt x="2300197" y="2786"/>
                    <a:pt x="2305157" y="7746"/>
                  </a:cubicBezTo>
                  <a:cubicBezTo>
                    <a:pt x="2310116" y="12706"/>
                    <a:pt x="2312903" y="19433"/>
                    <a:pt x="2312903" y="26448"/>
                  </a:cubicBezTo>
                  <a:lnTo>
                    <a:pt x="2312903" y="699904"/>
                  </a:lnTo>
                  <a:cubicBezTo>
                    <a:pt x="2312903" y="706918"/>
                    <a:pt x="2310116" y="713645"/>
                    <a:pt x="2305157" y="718605"/>
                  </a:cubicBezTo>
                  <a:cubicBezTo>
                    <a:pt x="2300197" y="723565"/>
                    <a:pt x="2293470" y="726351"/>
                    <a:pt x="2286455" y="726351"/>
                  </a:cubicBezTo>
                  <a:lnTo>
                    <a:pt x="26448" y="726351"/>
                  </a:lnTo>
                  <a:cubicBezTo>
                    <a:pt x="19433" y="726351"/>
                    <a:pt x="12706" y="723565"/>
                    <a:pt x="7746" y="718605"/>
                  </a:cubicBezTo>
                  <a:cubicBezTo>
                    <a:pt x="2786" y="713645"/>
                    <a:pt x="0" y="706918"/>
                    <a:pt x="0" y="699904"/>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764451"/>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8208793" y="6784486"/>
            <a:ext cx="6687619" cy="15843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Created SQL table dataset (source).</a:t>
            </a:r>
          </a:p>
          <a:p>
            <a:pPr marL="539749" lvl="1" indent="-269875" algn="l">
              <a:lnSpc>
                <a:spcPts val="4249"/>
              </a:lnSpc>
              <a:buFont typeface="Arial"/>
              <a:buChar char="•"/>
            </a:pPr>
            <a:r>
              <a:rPr lang="en-US" sz="2499">
                <a:solidFill>
                  <a:srgbClr val="FDFBFB"/>
                </a:solidFill>
                <a:latin typeface="Poppins"/>
                <a:ea typeface="Poppins"/>
                <a:cs typeface="Poppins"/>
                <a:sym typeface="Poppins"/>
              </a:rPr>
              <a:t>Created Parquet/CSV dataset (sink) for storing transformed data.</a:t>
            </a:r>
          </a:p>
        </p:txBody>
      </p:sp>
    </p:spTree>
  </p:cSld>
  <p:clrMapOvr>
    <a:masterClrMapping/>
  </p:clrMapOvr>
  <p:transition spd="slow">
    <p:cover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991" y="786534"/>
            <a:ext cx="18677981" cy="3885891"/>
            <a:chOff x="0" y="0"/>
            <a:chExt cx="6252608" cy="1300834"/>
          </a:xfrm>
        </p:grpSpPr>
        <p:sp>
          <p:nvSpPr>
            <p:cNvPr id="3" name="Freeform 3"/>
            <p:cNvSpPr/>
            <p:nvPr/>
          </p:nvSpPr>
          <p:spPr>
            <a:xfrm>
              <a:off x="0" y="0"/>
              <a:ext cx="6252608" cy="1300834"/>
            </a:xfrm>
            <a:custGeom>
              <a:avLst/>
              <a:gdLst/>
              <a:ahLst/>
              <a:cxnLst/>
              <a:rect l="l" t="t" r="r" b="b"/>
              <a:pathLst>
                <a:path w="6252608" h="1300834">
                  <a:moveTo>
                    <a:pt x="0" y="0"/>
                  </a:moveTo>
                  <a:lnTo>
                    <a:pt x="6252608" y="0"/>
                  </a:lnTo>
                  <a:lnTo>
                    <a:pt x="6252608" y="1300834"/>
                  </a:lnTo>
                  <a:lnTo>
                    <a:pt x="0" y="1300834"/>
                  </a:lnTo>
                  <a:close/>
                </a:path>
              </a:pathLst>
            </a:custGeom>
            <a:solidFill>
              <a:srgbClr val="AAD7D4"/>
            </a:solidFill>
            <a:ln cap="sq">
              <a:noFill/>
              <a:prstDash val="solid"/>
              <a:miter/>
            </a:ln>
          </p:spPr>
        </p:sp>
        <p:sp>
          <p:nvSpPr>
            <p:cNvPr id="4" name="TextBox 4"/>
            <p:cNvSpPr txBox="1"/>
            <p:nvPr/>
          </p:nvSpPr>
          <p:spPr>
            <a:xfrm>
              <a:off x="0" y="85725"/>
              <a:ext cx="6252608" cy="1215109"/>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314051" y="1742689"/>
            <a:ext cx="7888152"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Implementation – ADF Pipeline</a:t>
            </a:r>
          </a:p>
        </p:txBody>
      </p:sp>
      <p:grpSp>
        <p:nvGrpSpPr>
          <p:cNvPr id="6" name="Group 6"/>
          <p:cNvGrpSpPr/>
          <p:nvPr/>
        </p:nvGrpSpPr>
        <p:grpSpPr>
          <a:xfrm>
            <a:off x="8477497" y="5595950"/>
            <a:ext cx="8781803" cy="2437786"/>
            <a:chOff x="0" y="0"/>
            <a:chExt cx="2312903" cy="642051"/>
          </a:xfrm>
        </p:grpSpPr>
        <p:sp>
          <p:nvSpPr>
            <p:cNvPr id="7" name="Freeform 7"/>
            <p:cNvSpPr/>
            <p:nvPr/>
          </p:nvSpPr>
          <p:spPr>
            <a:xfrm>
              <a:off x="0" y="0"/>
              <a:ext cx="2312903" cy="642051"/>
            </a:xfrm>
            <a:custGeom>
              <a:avLst/>
              <a:gdLst/>
              <a:ahLst/>
              <a:cxnLst/>
              <a:rect l="l" t="t" r="r" b="b"/>
              <a:pathLst>
                <a:path w="2312903" h="642051">
                  <a:moveTo>
                    <a:pt x="26448" y="0"/>
                  </a:moveTo>
                  <a:lnTo>
                    <a:pt x="2286455" y="0"/>
                  </a:lnTo>
                  <a:cubicBezTo>
                    <a:pt x="2293470" y="0"/>
                    <a:pt x="2300197" y="2786"/>
                    <a:pt x="2305157" y="7746"/>
                  </a:cubicBezTo>
                  <a:cubicBezTo>
                    <a:pt x="2310116" y="12706"/>
                    <a:pt x="2312903" y="19433"/>
                    <a:pt x="2312903" y="26448"/>
                  </a:cubicBezTo>
                  <a:lnTo>
                    <a:pt x="2312903" y="615603"/>
                  </a:lnTo>
                  <a:cubicBezTo>
                    <a:pt x="2312903" y="622617"/>
                    <a:pt x="2310116" y="629344"/>
                    <a:pt x="2305157" y="634304"/>
                  </a:cubicBezTo>
                  <a:cubicBezTo>
                    <a:pt x="2300197" y="639264"/>
                    <a:pt x="2293470" y="642051"/>
                    <a:pt x="2286455" y="642051"/>
                  </a:cubicBezTo>
                  <a:lnTo>
                    <a:pt x="26448" y="642051"/>
                  </a:lnTo>
                  <a:cubicBezTo>
                    <a:pt x="19433" y="642051"/>
                    <a:pt x="12706" y="639264"/>
                    <a:pt x="7746" y="634304"/>
                  </a:cubicBezTo>
                  <a:cubicBezTo>
                    <a:pt x="2786" y="629344"/>
                    <a:pt x="0" y="622617"/>
                    <a:pt x="0" y="615603"/>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680151"/>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9202203" y="5951243"/>
            <a:ext cx="6711996" cy="15843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Built a pipeline with Copy Data activity.</a:t>
            </a:r>
          </a:p>
          <a:p>
            <a:pPr marL="539749" lvl="1" indent="-269875" algn="l">
              <a:lnSpc>
                <a:spcPts val="4249"/>
              </a:lnSpc>
              <a:buFont typeface="Arial"/>
              <a:buChar char="•"/>
            </a:pPr>
            <a:r>
              <a:rPr lang="en-US" sz="2499">
                <a:solidFill>
                  <a:srgbClr val="FDFBFB"/>
                </a:solidFill>
                <a:latin typeface="Poppins"/>
                <a:ea typeface="Poppins"/>
                <a:cs typeface="Poppins"/>
                <a:sym typeface="Poppins"/>
              </a:rPr>
              <a:t>Configured source, sink, and mapping tabs for data flow.</a:t>
            </a:r>
          </a:p>
        </p:txBody>
      </p:sp>
    </p:spTree>
  </p:cSld>
  <p:clrMapOvr>
    <a:masterClrMapping/>
  </p:clrMapOvr>
  <p:transition spd="slow">
    <p:cover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76915" y="1587101"/>
            <a:ext cx="5060409"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Debug &amp; Monitoring</a:t>
            </a:r>
          </a:p>
        </p:txBody>
      </p:sp>
      <p:grpSp>
        <p:nvGrpSpPr>
          <p:cNvPr id="3" name="Group 3"/>
          <p:cNvGrpSpPr/>
          <p:nvPr/>
        </p:nvGrpSpPr>
        <p:grpSpPr>
          <a:xfrm>
            <a:off x="-835969" y="6492589"/>
            <a:ext cx="20530640" cy="4103030"/>
            <a:chOff x="0" y="0"/>
            <a:chExt cx="6872801" cy="1373523"/>
          </a:xfrm>
        </p:grpSpPr>
        <p:sp>
          <p:nvSpPr>
            <p:cNvPr id="4" name="Freeform 4"/>
            <p:cNvSpPr/>
            <p:nvPr/>
          </p:nvSpPr>
          <p:spPr>
            <a:xfrm>
              <a:off x="0" y="0"/>
              <a:ext cx="6872801" cy="1373523"/>
            </a:xfrm>
            <a:custGeom>
              <a:avLst/>
              <a:gdLst/>
              <a:ahLst/>
              <a:cxnLst/>
              <a:rect l="l" t="t" r="r" b="b"/>
              <a:pathLst>
                <a:path w="6872801" h="1373523">
                  <a:moveTo>
                    <a:pt x="0" y="0"/>
                  </a:moveTo>
                  <a:lnTo>
                    <a:pt x="6872801" y="0"/>
                  </a:lnTo>
                  <a:lnTo>
                    <a:pt x="6872801" y="1373523"/>
                  </a:lnTo>
                  <a:lnTo>
                    <a:pt x="0" y="1373523"/>
                  </a:lnTo>
                  <a:close/>
                </a:path>
              </a:pathLst>
            </a:custGeom>
            <a:solidFill>
              <a:srgbClr val="AAD7D4"/>
            </a:solidFill>
            <a:ln cap="sq">
              <a:noFill/>
              <a:prstDash val="solid"/>
              <a:miter/>
            </a:ln>
          </p:spPr>
        </p:sp>
        <p:sp>
          <p:nvSpPr>
            <p:cNvPr id="5" name="TextBox 5"/>
            <p:cNvSpPr txBox="1"/>
            <p:nvPr/>
          </p:nvSpPr>
          <p:spPr>
            <a:xfrm>
              <a:off x="0" y="85725"/>
              <a:ext cx="6872801" cy="1287798"/>
            </a:xfrm>
            <a:prstGeom prst="rect">
              <a:avLst/>
            </a:prstGeom>
          </p:spPr>
          <p:txBody>
            <a:bodyPr lIns="50800" tIns="50800" rIns="50800" bIns="50800" rtlCol="0" anchor="ctr"/>
            <a:lstStyle/>
            <a:p>
              <a:pPr algn="ctr">
                <a:lnSpc>
                  <a:spcPts val="1925"/>
                </a:lnSpc>
              </a:pPr>
              <a:endParaRPr/>
            </a:p>
          </p:txBody>
        </p:sp>
      </p:grpSp>
      <p:grpSp>
        <p:nvGrpSpPr>
          <p:cNvPr id="6" name="Group 6"/>
          <p:cNvGrpSpPr/>
          <p:nvPr/>
        </p:nvGrpSpPr>
        <p:grpSpPr>
          <a:xfrm>
            <a:off x="8916852" y="4355595"/>
            <a:ext cx="8781803" cy="3162897"/>
            <a:chOff x="0" y="0"/>
            <a:chExt cx="2312903" cy="833026"/>
          </a:xfrm>
        </p:grpSpPr>
        <p:sp>
          <p:nvSpPr>
            <p:cNvPr id="7" name="Freeform 7"/>
            <p:cNvSpPr/>
            <p:nvPr/>
          </p:nvSpPr>
          <p:spPr>
            <a:xfrm>
              <a:off x="0" y="0"/>
              <a:ext cx="2312903" cy="833026"/>
            </a:xfrm>
            <a:custGeom>
              <a:avLst/>
              <a:gdLst/>
              <a:ahLst/>
              <a:cxnLst/>
              <a:rect l="l" t="t" r="r" b="b"/>
              <a:pathLst>
                <a:path w="2312903" h="833026">
                  <a:moveTo>
                    <a:pt x="26448" y="0"/>
                  </a:moveTo>
                  <a:lnTo>
                    <a:pt x="2286455" y="0"/>
                  </a:lnTo>
                  <a:cubicBezTo>
                    <a:pt x="2293470" y="0"/>
                    <a:pt x="2300197" y="2786"/>
                    <a:pt x="2305157" y="7746"/>
                  </a:cubicBezTo>
                  <a:cubicBezTo>
                    <a:pt x="2310116" y="12706"/>
                    <a:pt x="2312903" y="19433"/>
                    <a:pt x="2312903" y="26448"/>
                  </a:cubicBezTo>
                  <a:lnTo>
                    <a:pt x="2312903" y="806579"/>
                  </a:lnTo>
                  <a:cubicBezTo>
                    <a:pt x="2312903" y="813593"/>
                    <a:pt x="2310116" y="820320"/>
                    <a:pt x="2305157" y="825280"/>
                  </a:cubicBezTo>
                  <a:cubicBezTo>
                    <a:pt x="2300197" y="830240"/>
                    <a:pt x="2293470" y="833026"/>
                    <a:pt x="2286455" y="833026"/>
                  </a:cubicBezTo>
                  <a:lnTo>
                    <a:pt x="26448" y="833026"/>
                  </a:lnTo>
                  <a:cubicBezTo>
                    <a:pt x="19433" y="833026"/>
                    <a:pt x="12706" y="830240"/>
                    <a:pt x="7746" y="825280"/>
                  </a:cubicBezTo>
                  <a:cubicBezTo>
                    <a:pt x="2786" y="820320"/>
                    <a:pt x="0" y="813593"/>
                    <a:pt x="0" y="806579"/>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871126"/>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9647042" y="4806743"/>
            <a:ext cx="7321423"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Pipeline executed successfully with "Succeeded" status.</a:t>
            </a:r>
          </a:p>
          <a:p>
            <a:pPr marL="539749" lvl="1" indent="-269875" algn="l">
              <a:lnSpc>
                <a:spcPts val="4249"/>
              </a:lnSpc>
              <a:buFont typeface="Arial"/>
              <a:buChar char="•"/>
            </a:pPr>
            <a:r>
              <a:rPr lang="en-US" sz="2499">
                <a:solidFill>
                  <a:srgbClr val="FDFBFB"/>
                </a:solidFill>
                <a:latin typeface="Poppins"/>
                <a:ea typeface="Poppins"/>
                <a:cs typeface="Poppins"/>
                <a:sym typeface="Poppins"/>
              </a:rPr>
              <a:t>Logs and activity run history verified in ADF Monitor tab.</a:t>
            </a:r>
          </a:p>
        </p:txBody>
      </p:sp>
    </p:spTree>
  </p:cSld>
  <p:clrMapOvr>
    <a:masterClrMapping/>
  </p:clrMapOvr>
  <p:transition spd="slow">
    <p:cover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8920" y="1028700"/>
            <a:ext cx="20530640" cy="5199999"/>
            <a:chOff x="0" y="0"/>
            <a:chExt cx="6872801" cy="1740742"/>
          </a:xfrm>
        </p:grpSpPr>
        <p:sp>
          <p:nvSpPr>
            <p:cNvPr id="3" name="Freeform 3"/>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4" name="TextBox 4"/>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359494" y="1851125"/>
            <a:ext cx="8546333" cy="101155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Verification in ADLS</a:t>
            </a:r>
          </a:p>
        </p:txBody>
      </p:sp>
      <p:grpSp>
        <p:nvGrpSpPr>
          <p:cNvPr id="6" name="Group 6"/>
          <p:cNvGrpSpPr/>
          <p:nvPr/>
        </p:nvGrpSpPr>
        <p:grpSpPr>
          <a:xfrm>
            <a:off x="8477497" y="5143500"/>
            <a:ext cx="8781803" cy="2727287"/>
            <a:chOff x="0" y="0"/>
            <a:chExt cx="2312903" cy="718298"/>
          </a:xfrm>
        </p:grpSpPr>
        <p:sp>
          <p:nvSpPr>
            <p:cNvPr id="7" name="Freeform 7"/>
            <p:cNvSpPr/>
            <p:nvPr/>
          </p:nvSpPr>
          <p:spPr>
            <a:xfrm>
              <a:off x="0" y="0"/>
              <a:ext cx="2312903" cy="718298"/>
            </a:xfrm>
            <a:custGeom>
              <a:avLst/>
              <a:gdLst/>
              <a:ahLst/>
              <a:cxnLst/>
              <a:rect l="l" t="t" r="r" b="b"/>
              <a:pathLst>
                <a:path w="2312903" h="718298">
                  <a:moveTo>
                    <a:pt x="26448" y="0"/>
                  </a:moveTo>
                  <a:lnTo>
                    <a:pt x="2286455" y="0"/>
                  </a:lnTo>
                  <a:cubicBezTo>
                    <a:pt x="2293470" y="0"/>
                    <a:pt x="2300197" y="2786"/>
                    <a:pt x="2305157" y="7746"/>
                  </a:cubicBezTo>
                  <a:cubicBezTo>
                    <a:pt x="2310116" y="12706"/>
                    <a:pt x="2312903" y="19433"/>
                    <a:pt x="2312903" y="26448"/>
                  </a:cubicBezTo>
                  <a:lnTo>
                    <a:pt x="2312903" y="691850"/>
                  </a:lnTo>
                  <a:cubicBezTo>
                    <a:pt x="2312903" y="698865"/>
                    <a:pt x="2310116" y="705592"/>
                    <a:pt x="2305157" y="710551"/>
                  </a:cubicBezTo>
                  <a:cubicBezTo>
                    <a:pt x="2300197" y="715511"/>
                    <a:pt x="2293470" y="718298"/>
                    <a:pt x="2286455" y="718298"/>
                  </a:cubicBezTo>
                  <a:lnTo>
                    <a:pt x="26448" y="718298"/>
                  </a:lnTo>
                  <a:cubicBezTo>
                    <a:pt x="19433" y="718298"/>
                    <a:pt x="12706" y="715511"/>
                    <a:pt x="7746" y="710551"/>
                  </a:cubicBezTo>
                  <a:cubicBezTo>
                    <a:pt x="2786" y="705592"/>
                    <a:pt x="0" y="698865"/>
                    <a:pt x="0" y="691850"/>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756398"/>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9463646" y="5643543"/>
            <a:ext cx="6809504" cy="15843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Data successfully copied to curated container in Parquet format.</a:t>
            </a:r>
          </a:p>
          <a:p>
            <a:pPr marL="539749" lvl="1" indent="-269875" algn="l">
              <a:lnSpc>
                <a:spcPts val="4249"/>
              </a:lnSpc>
              <a:buFont typeface="Arial"/>
              <a:buChar char="•"/>
            </a:pPr>
            <a:r>
              <a:rPr lang="en-US" sz="2499">
                <a:solidFill>
                  <a:srgbClr val="FDFBFB"/>
                </a:solidFill>
                <a:latin typeface="Poppins"/>
                <a:ea typeface="Poppins"/>
                <a:cs typeface="Poppins"/>
                <a:sym typeface="Poppins"/>
              </a:rPr>
              <a:t>Folder structure validated within ADLS.</a:t>
            </a:r>
          </a:p>
        </p:txBody>
      </p:sp>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8920" y="1028700"/>
            <a:ext cx="20530640" cy="5199999"/>
            <a:chOff x="0" y="0"/>
            <a:chExt cx="6872801" cy="1740742"/>
          </a:xfrm>
        </p:grpSpPr>
        <p:sp>
          <p:nvSpPr>
            <p:cNvPr id="3" name="Freeform 3"/>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4" name="TextBox 4"/>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638127" y="1686223"/>
            <a:ext cx="6133001"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Verification in Synapse</a:t>
            </a:r>
          </a:p>
        </p:txBody>
      </p:sp>
      <p:grpSp>
        <p:nvGrpSpPr>
          <p:cNvPr id="6" name="Group 6"/>
          <p:cNvGrpSpPr/>
          <p:nvPr/>
        </p:nvGrpSpPr>
        <p:grpSpPr>
          <a:xfrm>
            <a:off x="8650949" y="4564023"/>
            <a:ext cx="7465440" cy="3329352"/>
            <a:chOff x="0" y="0"/>
            <a:chExt cx="1966206" cy="876866"/>
          </a:xfrm>
        </p:grpSpPr>
        <p:sp>
          <p:nvSpPr>
            <p:cNvPr id="7" name="Freeform 7"/>
            <p:cNvSpPr/>
            <p:nvPr/>
          </p:nvSpPr>
          <p:spPr>
            <a:xfrm>
              <a:off x="0" y="0"/>
              <a:ext cx="1966207" cy="876866"/>
            </a:xfrm>
            <a:custGeom>
              <a:avLst/>
              <a:gdLst/>
              <a:ahLst/>
              <a:cxnLst/>
              <a:rect l="l" t="t" r="r" b="b"/>
              <a:pathLst>
                <a:path w="1966207" h="876866">
                  <a:moveTo>
                    <a:pt x="31111" y="0"/>
                  </a:moveTo>
                  <a:lnTo>
                    <a:pt x="1935095" y="0"/>
                  </a:lnTo>
                  <a:cubicBezTo>
                    <a:pt x="1943347" y="0"/>
                    <a:pt x="1951260" y="3278"/>
                    <a:pt x="1957094" y="9112"/>
                  </a:cubicBezTo>
                  <a:cubicBezTo>
                    <a:pt x="1962929" y="14947"/>
                    <a:pt x="1966207" y="22860"/>
                    <a:pt x="1966207" y="31111"/>
                  </a:cubicBezTo>
                  <a:lnTo>
                    <a:pt x="1966207" y="845755"/>
                  </a:lnTo>
                  <a:cubicBezTo>
                    <a:pt x="1966207" y="854006"/>
                    <a:pt x="1962929" y="861920"/>
                    <a:pt x="1957094" y="867754"/>
                  </a:cubicBezTo>
                  <a:cubicBezTo>
                    <a:pt x="1951260" y="873589"/>
                    <a:pt x="1943347" y="876866"/>
                    <a:pt x="1935095" y="876866"/>
                  </a:cubicBezTo>
                  <a:lnTo>
                    <a:pt x="31111" y="876866"/>
                  </a:lnTo>
                  <a:cubicBezTo>
                    <a:pt x="22860" y="876866"/>
                    <a:pt x="14947" y="873589"/>
                    <a:pt x="9112" y="867754"/>
                  </a:cubicBezTo>
                  <a:cubicBezTo>
                    <a:pt x="3278" y="861920"/>
                    <a:pt x="0" y="854006"/>
                    <a:pt x="0" y="845755"/>
                  </a:cubicBezTo>
                  <a:lnTo>
                    <a:pt x="0" y="31111"/>
                  </a:lnTo>
                  <a:cubicBezTo>
                    <a:pt x="0" y="22860"/>
                    <a:pt x="3278" y="14947"/>
                    <a:pt x="9112" y="9112"/>
                  </a:cubicBezTo>
                  <a:cubicBezTo>
                    <a:pt x="14947" y="3278"/>
                    <a:pt x="22860" y="0"/>
                    <a:pt x="31111" y="0"/>
                  </a:cubicBezTo>
                  <a:close/>
                </a:path>
              </a:pathLst>
            </a:custGeom>
            <a:solidFill>
              <a:srgbClr val="106861"/>
            </a:solidFill>
          </p:spPr>
        </p:sp>
        <p:sp>
          <p:nvSpPr>
            <p:cNvPr id="8" name="TextBox 8"/>
            <p:cNvSpPr txBox="1"/>
            <p:nvPr/>
          </p:nvSpPr>
          <p:spPr>
            <a:xfrm>
              <a:off x="0" y="-38100"/>
              <a:ext cx="1966206" cy="914966"/>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9612722" y="5098399"/>
            <a:ext cx="5541895" cy="21177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Data queried via OPENROWSET in Synapse Studio.</a:t>
            </a:r>
          </a:p>
          <a:p>
            <a:pPr marL="539749" lvl="1" indent="-269875" algn="l">
              <a:lnSpc>
                <a:spcPts val="4249"/>
              </a:lnSpc>
              <a:buFont typeface="Arial"/>
              <a:buChar char="•"/>
            </a:pPr>
            <a:r>
              <a:rPr lang="en-US" sz="2499">
                <a:solidFill>
                  <a:srgbClr val="FDFBFB"/>
                </a:solidFill>
                <a:latin typeface="Poppins"/>
                <a:ea typeface="Poppins"/>
                <a:cs typeface="Poppins"/>
                <a:sym typeface="Poppins"/>
              </a:rPr>
              <a:t>Confirmed data availability for further analytics.</a:t>
            </a:r>
          </a:p>
        </p:txBody>
      </p:sp>
    </p:spTree>
  </p:cSld>
  <p:clrMapOvr>
    <a:masterClrMapping/>
  </p:clrMapOvr>
  <p:transition spd="slow">
    <p:cover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31233" y="1565306"/>
            <a:ext cx="4938524"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DevOps Integration</a:t>
            </a:r>
          </a:p>
        </p:txBody>
      </p:sp>
      <p:grpSp>
        <p:nvGrpSpPr>
          <p:cNvPr id="3" name="Group 3"/>
          <p:cNvGrpSpPr/>
          <p:nvPr/>
        </p:nvGrpSpPr>
        <p:grpSpPr>
          <a:xfrm>
            <a:off x="-835969" y="6492589"/>
            <a:ext cx="20530640" cy="4103030"/>
            <a:chOff x="0" y="0"/>
            <a:chExt cx="6872801" cy="1373523"/>
          </a:xfrm>
        </p:grpSpPr>
        <p:sp>
          <p:nvSpPr>
            <p:cNvPr id="4" name="Freeform 4"/>
            <p:cNvSpPr/>
            <p:nvPr/>
          </p:nvSpPr>
          <p:spPr>
            <a:xfrm>
              <a:off x="0" y="0"/>
              <a:ext cx="6872801" cy="1373523"/>
            </a:xfrm>
            <a:custGeom>
              <a:avLst/>
              <a:gdLst/>
              <a:ahLst/>
              <a:cxnLst/>
              <a:rect l="l" t="t" r="r" b="b"/>
              <a:pathLst>
                <a:path w="6872801" h="1373523">
                  <a:moveTo>
                    <a:pt x="0" y="0"/>
                  </a:moveTo>
                  <a:lnTo>
                    <a:pt x="6872801" y="0"/>
                  </a:lnTo>
                  <a:lnTo>
                    <a:pt x="6872801" y="1373523"/>
                  </a:lnTo>
                  <a:lnTo>
                    <a:pt x="0" y="1373523"/>
                  </a:lnTo>
                  <a:close/>
                </a:path>
              </a:pathLst>
            </a:custGeom>
            <a:solidFill>
              <a:srgbClr val="AAD7D4"/>
            </a:solidFill>
            <a:ln cap="sq">
              <a:noFill/>
              <a:prstDash val="solid"/>
              <a:miter/>
            </a:ln>
          </p:spPr>
        </p:sp>
        <p:sp>
          <p:nvSpPr>
            <p:cNvPr id="5" name="TextBox 5"/>
            <p:cNvSpPr txBox="1"/>
            <p:nvPr/>
          </p:nvSpPr>
          <p:spPr>
            <a:xfrm>
              <a:off x="0" y="85725"/>
              <a:ext cx="6872801" cy="1287798"/>
            </a:xfrm>
            <a:prstGeom prst="rect">
              <a:avLst/>
            </a:prstGeom>
          </p:spPr>
          <p:txBody>
            <a:bodyPr lIns="50800" tIns="50800" rIns="50800" bIns="50800" rtlCol="0" anchor="ctr"/>
            <a:lstStyle/>
            <a:p>
              <a:pPr algn="ctr">
                <a:lnSpc>
                  <a:spcPts val="1925"/>
                </a:lnSpc>
              </a:pPr>
              <a:endParaRPr/>
            </a:p>
          </p:txBody>
        </p:sp>
      </p:grpSp>
      <p:grpSp>
        <p:nvGrpSpPr>
          <p:cNvPr id="6" name="Group 6"/>
          <p:cNvGrpSpPr/>
          <p:nvPr/>
        </p:nvGrpSpPr>
        <p:grpSpPr>
          <a:xfrm>
            <a:off x="8772835" y="4987095"/>
            <a:ext cx="8147999" cy="2589241"/>
            <a:chOff x="0" y="0"/>
            <a:chExt cx="2145975" cy="681940"/>
          </a:xfrm>
        </p:grpSpPr>
        <p:sp>
          <p:nvSpPr>
            <p:cNvPr id="7" name="Freeform 7"/>
            <p:cNvSpPr/>
            <p:nvPr/>
          </p:nvSpPr>
          <p:spPr>
            <a:xfrm>
              <a:off x="0" y="0"/>
              <a:ext cx="2145975" cy="681940"/>
            </a:xfrm>
            <a:custGeom>
              <a:avLst/>
              <a:gdLst/>
              <a:ahLst/>
              <a:cxnLst/>
              <a:rect l="l" t="t" r="r" b="b"/>
              <a:pathLst>
                <a:path w="2145975" h="681940">
                  <a:moveTo>
                    <a:pt x="28505" y="0"/>
                  </a:moveTo>
                  <a:lnTo>
                    <a:pt x="2117470" y="0"/>
                  </a:lnTo>
                  <a:cubicBezTo>
                    <a:pt x="2133213" y="0"/>
                    <a:pt x="2145975" y="12762"/>
                    <a:pt x="2145975" y="28505"/>
                  </a:cubicBezTo>
                  <a:lnTo>
                    <a:pt x="2145975" y="653435"/>
                  </a:lnTo>
                  <a:cubicBezTo>
                    <a:pt x="2145975" y="669178"/>
                    <a:pt x="2133213" y="681940"/>
                    <a:pt x="2117470" y="681940"/>
                  </a:cubicBezTo>
                  <a:lnTo>
                    <a:pt x="28505" y="681940"/>
                  </a:lnTo>
                  <a:cubicBezTo>
                    <a:pt x="12762" y="681940"/>
                    <a:pt x="0" y="669178"/>
                    <a:pt x="0" y="653435"/>
                  </a:cubicBezTo>
                  <a:lnTo>
                    <a:pt x="0" y="28505"/>
                  </a:lnTo>
                  <a:cubicBezTo>
                    <a:pt x="0" y="12762"/>
                    <a:pt x="12762" y="0"/>
                    <a:pt x="28505" y="0"/>
                  </a:cubicBezTo>
                  <a:close/>
                </a:path>
              </a:pathLst>
            </a:custGeom>
            <a:solidFill>
              <a:srgbClr val="106861"/>
            </a:solidFill>
          </p:spPr>
        </p:sp>
        <p:sp>
          <p:nvSpPr>
            <p:cNvPr id="8" name="TextBox 8"/>
            <p:cNvSpPr txBox="1"/>
            <p:nvPr/>
          </p:nvSpPr>
          <p:spPr>
            <a:xfrm>
              <a:off x="0" y="-38100"/>
              <a:ext cx="2145975" cy="720040"/>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9600533" y="5418115"/>
            <a:ext cx="6492602" cy="15843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Linked ADF to Azure DevOps Git repo.</a:t>
            </a:r>
          </a:p>
          <a:p>
            <a:pPr marL="539749" lvl="1" indent="-269875" algn="l">
              <a:lnSpc>
                <a:spcPts val="4249"/>
              </a:lnSpc>
              <a:buFont typeface="Arial"/>
              <a:buChar char="•"/>
            </a:pPr>
            <a:r>
              <a:rPr lang="en-US" sz="2499">
                <a:solidFill>
                  <a:srgbClr val="FDFBFB"/>
                </a:solidFill>
                <a:latin typeface="Poppins"/>
                <a:ea typeface="Poppins"/>
                <a:cs typeface="Poppins"/>
                <a:sym typeface="Poppins"/>
              </a:rPr>
              <a:t>On publishing, pipeline artifacts stored in adf_publish folder.</a:t>
            </a:r>
          </a:p>
        </p:txBody>
      </p:sp>
    </p:spTree>
  </p:cSld>
  <p:clrMapOvr>
    <a:masterClrMapping/>
  </p:clrMapOvr>
  <p:transition spd="slow">
    <p:cover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8920" y="1028700"/>
            <a:ext cx="20530640" cy="5199999"/>
            <a:chOff x="0" y="0"/>
            <a:chExt cx="6872801" cy="1740742"/>
          </a:xfrm>
        </p:grpSpPr>
        <p:sp>
          <p:nvSpPr>
            <p:cNvPr id="3" name="Freeform 3"/>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4" name="TextBox 4"/>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589373" y="2149251"/>
            <a:ext cx="5450443" cy="101155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 CI/CD Setup</a:t>
            </a:r>
          </a:p>
        </p:txBody>
      </p:sp>
      <p:grpSp>
        <p:nvGrpSpPr>
          <p:cNvPr id="6" name="Group 6"/>
          <p:cNvGrpSpPr/>
          <p:nvPr/>
        </p:nvGrpSpPr>
        <p:grpSpPr>
          <a:xfrm>
            <a:off x="8161162" y="4111512"/>
            <a:ext cx="8781803" cy="3575355"/>
            <a:chOff x="0" y="0"/>
            <a:chExt cx="2312903" cy="941657"/>
          </a:xfrm>
        </p:grpSpPr>
        <p:sp>
          <p:nvSpPr>
            <p:cNvPr id="7" name="Freeform 7"/>
            <p:cNvSpPr/>
            <p:nvPr/>
          </p:nvSpPr>
          <p:spPr>
            <a:xfrm>
              <a:off x="0" y="0"/>
              <a:ext cx="2312903" cy="941657"/>
            </a:xfrm>
            <a:custGeom>
              <a:avLst/>
              <a:gdLst/>
              <a:ahLst/>
              <a:cxnLst/>
              <a:rect l="l" t="t" r="r" b="b"/>
              <a:pathLst>
                <a:path w="2312903" h="941657">
                  <a:moveTo>
                    <a:pt x="26448" y="0"/>
                  </a:moveTo>
                  <a:lnTo>
                    <a:pt x="2286455" y="0"/>
                  </a:lnTo>
                  <a:cubicBezTo>
                    <a:pt x="2293470" y="0"/>
                    <a:pt x="2300197" y="2786"/>
                    <a:pt x="2305157" y="7746"/>
                  </a:cubicBezTo>
                  <a:cubicBezTo>
                    <a:pt x="2310116" y="12706"/>
                    <a:pt x="2312903" y="19433"/>
                    <a:pt x="2312903" y="26448"/>
                  </a:cubicBezTo>
                  <a:lnTo>
                    <a:pt x="2312903" y="915210"/>
                  </a:lnTo>
                  <a:cubicBezTo>
                    <a:pt x="2312903" y="922224"/>
                    <a:pt x="2310116" y="928951"/>
                    <a:pt x="2305157" y="933911"/>
                  </a:cubicBezTo>
                  <a:cubicBezTo>
                    <a:pt x="2300197" y="938871"/>
                    <a:pt x="2293470" y="941657"/>
                    <a:pt x="2286455" y="941657"/>
                  </a:cubicBezTo>
                  <a:lnTo>
                    <a:pt x="26448" y="941657"/>
                  </a:lnTo>
                  <a:cubicBezTo>
                    <a:pt x="19433" y="941657"/>
                    <a:pt x="12706" y="938871"/>
                    <a:pt x="7746" y="933911"/>
                  </a:cubicBezTo>
                  <a:cubicBezTo>
                    <a:pt x="2786" y="928951"/>
                    <a:pt x="0" y="922224"/>
                    <a:pt x="0" y="915210"/>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979757"/>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8806032" y="4502190"/>
            <a:ext cx="6907012" cy="26511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Service connection (sc-azure-rg-hexaware) created for deployment.</a:t>
            </a:r>
          </a:p>
          <a:p>
            <a:pPr marL="539749" lvl="1" indent="-269875" algn="l">
              <a:lnSpc>
                <a:spcPts val="4249"/>
              </a:lnSpc>
              <a:buFont typeface="Arial"/>
              <a:buChar char="•"/>
            </a:pPr>
            <a:r>
              <a:rPr lang="en-US" sz="2499">
                <a:solidFill>
                  <a:srgbClr val="FDFBFB"/>
                </a:solidFill>
                <a:latin typeface="Poppins"/>
                <a:ea typeface="Poppins"/>
                <a:cs typeface="Poppins"/>
                <a:sym typeface="Poppins"/>
              </a:rPr>
              <a:t>Release pipeline defined but final deployment pending due to parallelism limit.</a:t>
            </a:r>
          </a:p>
        </p:txBody>
      </p:sp>
    </p:spTree>
  </p:cSld>
  <p:clrMapOvr>
    <a:masterClrMapping/>
  </p:clrMapOvr>
  <p:transition spd="slow">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84390" y="1596427"/>
            <a:ext cx="4816638"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Successful Output</a:t>
            </a:r>
          </a:p>
        </p:txBody>
      </p:sp>
      <p:grpSp>
        <p:nvGrpSpPr>
          <p:cNvPr id="3" name="Group 3"/>
          <p:cNvGrpSpPr/>
          <p:nvPr/>
        </p:nvGrpSpPr>
        <p:grpSpPr>
          <a:xfrm>
            <a:off x="-835969" y="6492589"/>
            <a:ext cx="20530640" cy="4103030"/>
            <a:chOff x="0" y="0"/>
            <a:chExt cx="6872801" cy="1373523"/>
          </a:xfrm>
        </p:grpSpPr>
        <p:sp>
          <p:nvSpPr>
            <p:cNvPr id="4" name="Freeform 4"/>
            <p:cNvSpPr/>
            <p:nvPr/>
          </p:nvSpPr>
          <p:spPr>
            <a:xfrm>
              <a:off x="0" y="0"/>
              <a:ext cx="6872801" cy="1373523"/>
            </a:xfrm>
            <a:custGeom>
              <a:avLst/>
              <a:gdLst/>
              <a:ahLst/>
              <a:cxnLst/>
              <a:rect l="l" t="t" r="r" b="b"/>
              <a:pathLst>
                <a:path w="6872801" h="1373523">
                  <a:moveTo>
                    <a:pt x="0" y="0"/>
                  </a:moveTo>
                  <a:lnTo>
                    <a:pt x="6872801" y="0"/>
                  </a:lnTo>
                  <a:lnTo>
                    <a:pt x="6872801" y="1373523"/>
                  </a:lnTo>
                  <a:lnTo>
                    <a:pt x="0" y="1373523"/>
                  </a:lnTo>
                  <a:close/>
                </a:path>
              </a:pathLst>
            </a:custGeom>
            <a:solidFill>
              <a:srgbClr val="AAD7D4"/>
            </a:solidFill>
            <a:ln cap="sq">
              <a:noFill/>
              <a:prstDash val="solid"/>
              <a:miter/>
            </a:ln>
          </p:spPr>
        </p:sp>
        <p:sp>
          <p:nvSpPr>
            <p:cNvPr id="5" name="TextBox 5"/>
            <p:cNvSpPr txBox="1"/>
            <p:nvPr/>
          </p:nvSpPr>
          <p:spPr>
            <a:xfrm>
              <a:off x="0" y="85725"/>
              <a:ext cx="6872801" cy="1287798"/>
            </a:xfrm>
            <a:prstGeom prst="rect">
              <a:avLst/>
            </a:prstGeom>
          </p:spPr>
          <p:txBody>
            <a:bodyPr lIns="50800" tIns="50800" rIns="50800" bIns="50800" rtlCol="0" anchor="ctr"/>
            <a:lstStyle/>
            <a:p>
              <a:pPr algn="ctr">
                <a:lnSpc>
                  <a:spcPts val="1925"/>
                </a:lnSpc>
              </a:pPr>
              <a:endParaRPr/>
            </a:p>
          </p:txBody>
        </p:sp>
      </p:grpSp>
      <p:grpSp>
        <p:nvGrpSpPr>
          <p:cNvPr id="6" name="Group 6"/>
          <p:cNvGrpSpPr/>
          <p:nvPr/>
        </p:nvGrpSpPr>
        <p:grpSpPr>
          <a:xfrm>
            <a:off x="8306857" y="4394630"/>
            <a:ext cx="8952443" cy="2727197"/>
            <a:chOff x="0" y="0"/>
            <a:chExt cx="2357845" cy="718274"/>
          </a:xfrm>
        </p:grpSpPr>
        <p:sp>
          <p:nvSpPr>
            <p:cNvPr id="7" name="Freeform 7"/>
            <p:cNvSpPr/>
            <p:nvPr/>
          </p:nvSpPr>
          <p:spPr>
            <a:xfrm>
              <a:off x="0" y="0"/>
              <a:ext cx="2357845" cy="718274"/>
            </a:xfrm>
            <a:custGeom>
              <a:avLst/>
              <a:gdLst/>
              <a:ahLst/>
              <a:cxnLst/>
              <a:rect l="l" t="t" r="r" b="b"/>
              <a:pathLst>
                <a:path w="2357845" h="718274">
                  <a:moveTo>
                    <a:pt x="25943" y="0"/>
                  </a:moveTo>
                  <a:lnTo>
                    <a:pt x="2331901" y="0"/>
                  </a:lnTo>
                  <a:cubicBezTo>
                    <a:pt x="2346230" y="0"/>
                    <a:pt x="2357845" y="11615"/>
                    <a:pt x="2357845" y="25943"/>
                  </a:cubicBezTo>
                  <a:lnTo>
                    <a:pt x="2357845" y="692331"/>
                  </a:lnTo>
                  <a:cubicBezTo>
                    <a:pt x="2357845" y="706659"/>
                    <a:pt x="2346230" y="718274"/>
                    <a:pt x="2331901" y="718274"/>
                  </a:cubicBezTo>
                  <a:lnTo>
                    <a:pt x="25943" y="718274"/>
                  </a:lnTo>
                  <a:cubicBezTo>
                    <a:pt x="11615" y="718274"/>
                    <a:pt x="0" y="706659"/>
                    <a:pt x="0" y="692331"/>
                  </a:cubicBezTo>
                  <a:lnTo>
                    <a:pt x="0" y="25943"/>
                  </a:lnTo>
                  <a:cubicBezTo>
                    <a:pt x="0" y="11615"/>
                    <a:pt x="11615" y="0"/>
                    <a:pt x="25943" y="0"/>
                  </a:cubicBezTo>
                  <a:close/>
                </a:path>
              </a:pathLst>
            </a:custGeom>
            <a:solidFill>
              <a:srgbClr val="106861"/>
            </a:solidFill>
          </p:spPr>
        </p:sp>
        <p:sp>
          <p:nvSpPr>
            <p:cNvPr id="8" name="TextBox 8"/>
            <p:cNvSpPr txBox="1"/>
            <p:nvPr/>
          </p:nvSpPr>
          <p:spPr>
            <a:xfrm>
              <a:off x="0" y="-38100"/>
              <a:ext cx="2357845" cy="756374"/>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8695768" y="4908264"/>
            <a:ext cx="8174621" cy="15843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Data successfully moved from </a:t>
            </a:r>
          </a:p>
          <a:p>
            <a:pPr algn="l">
              <a:lnSpc>
                <a:spcPts val="4249"/>
              </a:lnSpc>
            </a:pPr>
            <a:r>
              <a:rPr lang="en-US" sz="2499">
                <a:solidFill>
                  <a:srgbClr val="FDFBFB"/>
                </a:solidFill>
                <a:latin typeface="Poppins"/>
                <a:ea typeface="Poppins"/>
                <a:cs typeface="Poppins"/>
                <a:sym typeface="Poppins"/>
              </a:rPr>
              <a:t>       SQL → ADLS → Synapse.</a:t>
            </a:r>
          </a:p>
          <a:p>
            <a:pPr marL="539749" lvl="1" indent="-269875" algn="l">
              <a:lnSpc>
                <a:spcPts val="4249"/>
              </a:lnSpc>
              <a:buFont typeface="Arial"/>
              <a:buChar char="•"/>
            </a:pPr>
            <a:r>
              <a:rPr lang="en-US" sz="2499">
                <a:solidFill>
                  <a:srgbClr val="FDFBFB"/>
                </a:solidFill>
                <a:latin typeface="Poppins"/>
                <a:ea typeface="Poppins"/>
                <a:cs typeface="Poppins"/>
                <a:sym typeface="Poppins"/>
              </a:rPr>
              <a:t>Artifacts pushed to DevOps for version tracking.</a:t>
            </a:r>
          </a:p>
        </p:txBody>
      </p:sp>
    </p:spTree>
  </p:cSld>
  <p:clrMapOvr>
    <a:masterClrMapping/>
  </p:clrMapOvr>
  <p:transition spd="slow">
    <p:cover dir="l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8920" y="1028700"/>
            <a:ext cx="20530640" cy="5199999"/>
            <a:chOff x="0" y="0"/>
            <a:chExt cx="6872801" cy="1740742"/>
          </a:xfrm>
        </p:grpSpPr>
        <p:sp>
          <p:nvSpPr>
            <p:cNvPr id="3" name="Freeform 3"/>
            <p:cNvSpPr/>
            <p:nvPr/>
          </p:nvSpPr>
          <p:spPr>
            <a:xfrm>
              <a:off x="0" y="0"/>
              <a:ext cx="6872801" cy="1740742"/>
            </a:xfrm>
            <a:custGeom>
              <a:avLst/>
              <a:gdLst/>
              <a:ahLst/>
              <a:cxnLst/>
              <a:rect l="l" t="t" r="r" b="b"/>
              <a:pathLst>
                <a:path w="6872801" h="1740742">
                  <a:moveTo>
                    <a:pt x="0" y="0"/>
                  </a:moveTo>
                  <a:lnTo>
                    <a:pt x="6872801" y="0"/>
                  </a:lnTo>
                  <a:lnTo>
                    <a:pt x="6872801" y="1740742"/>
                  </a:lnTo>
                  <a:lnTo>
                    <a:pt x="0" y="1740742"/>
                  </a:lnTo>
                  <a:close/>
                </a:path>
              </a:pathLst>
            </a:custGeom>
            <a:solidFill>
              <a:srgbClr val="AAD7D4"/>
            </a:solidFill>
            <a:ln cap="sq">
              <a:noFill/>
              <a:prstDash val="solid"/>
              <a:miter/>
            </a:ln>
          </p:spPr>
        </p:sp>
        <p:sp>
          <p:nvSpPr>
            <p:cNvPr id="4" name="TextBox 4"/>
            <p:cNvSpPr txBox="1"/>
            <p:nvPr/>
          </p:nvSpPr>
          <p:spPr>
            <a:xfrm>
              <a:off x="0" y="85725"/>
              <a:ext cx="6872801" cy="1655017"/>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760013" y="2077479"/>
            <a:ext cx="5572328" cy="194500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Optimization Strategies</a:t>
            </a:r>
          </a:p>
        </p:txBody>
      </p:sp>
      <p:grpSp>
        <p:nvGrpSpPr>
          <p:cNvPr id="6" name="Group 6"/>
          <p:cNvGrpSpPr/>
          <p:nvPr/>
        </p:nvGrpSpPr>
        <p:grpSpPr>
          <a:xfrm>
            <a:off x="8916852" y="4356255"/>
            <a:ext cx="8781803" cy="4170914"/>
            <a:chOff x="0" y="0"/>
            <a:chExt cx="2312903" cy="1098512"/>
          </a:xfrm>
        </p:grpSpPr>
        <p:sp>
          <p:nvSpPr>
            <p:cNvPr id="7" name="Freeform 7"/>
            <p:cNvSpPr/>
            <p:nvPr/>
          </p:nvSpPr>
          <p:spPr>
            <a:xfrm>
              <a:off x="0" y="0"/>
              <a:ext cx="2312903" cy="1098512"/>
            </a:xfrm>
            <a:custGeom>
              <a:avLst/>
              <a:gdLst/>
              <a:ahLst/>
              <a:cxnLst/>
              <a:rect l="l" t="t" r="r" b="b"/>
              <a:pathLst>
                <a:path w="2312903" h="1098512">
                  <a:moveTo>
                    <a:pt x="26448" y="0"/>
                  </a:moveTo>
                  <a:lnTo>
                    <a:pt x="2286455" y="0"/>
                  </a:lnTo>
                  <a:cubicBezTo>
                    <a:pt x="2293470" y="0"/>
                    <a:pt x="2300197" y="2786"/>
                    <a:pt x="2305157" y="7746"/>
                  </a:cubicBezTo>
                  <a:cubicBezTo>
                    <a:pt x="2310116" y="12706"/>
                    <a:pt x="2312903" y="19433"/>
                    <a:pt x="2312903" y="26448"/>
                  </a:cubicBezTo>
                  <a:lnTo>
                    <a:pt x="2312903" y="1072065"/>
                  </a:lnTo>
                  <a:cubicBezTo>
                    <a:pt x="2312903" y="1079079"/>
                    <a:pt x="2310116" y="1085806"/>
                    <a:pt x="2305157" y="1090766"/>
                  </a:cubicBezTo>
                  <a:cubicBezTo>
                    <a:pt x="2300197" y="1095726"/>
                    <a:pt x="2293470" y="1098512"/>
                    <a:pt x="2286455" y="1098512"/>
                  </a:cubicBezTo>
                  <a:lnTo>
                    <a:pt x="26448" y="1098512"/>
                  </a:lnTo>
                  <a:cubicBezTo>
                    <a:pt x="19433" y="1098512"/>
                    <a:pt x="12706" y="1095726"/>
                    <a:pt x="7746" y="1090766"/>
                  </a:cubicBezTo>
                  <a:cubicBezTo>
                    <a:pt x="2786" y="1085806"/>
                    <a:pt x="0" y="1079079"/>
                    <a:pt x="0" y="1072065"/>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id="8" name="TextBox 8"/>
            <p:cNvSpPr txBox="1"/>
            <p:nvPr/>
          </p:nvSpPr>
          <p:spPr>
            <a:xfrm>
              <a:off x="0" y="-38100"/>
              <a:ext cx="2312903" cy="1136612"/>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9573911" y="4778012"/>
            <a:ext cx="7467686" cy="31845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Partitioning data for large-scale ingestion.</a:t>
            </a:r>
          </a:p>
          <a:p>
            <a:pPr marL="539749" lvl="1" indent="-269875" algn="l">
              <a:lnSpc>
                <a:spcPts val="4249"/>
              </a:lnSpc>
              <a:buFont typeface="Arial"/>
              <a:buChar char="•"/>
            </a:pPr>
            <a:r>
              <a:rPr lang="en-US" sz="2499">
                <a:solidFill>
                  <a:srgbClr val="FDFBFB"/>
                </a:solidFill>
                <a:latin typeface="Poppins"/>
                <a:ea typeface="Poppins"/>
                <a:cs typeface="Poppins"/>
                <a:sym typeface="Poppins"/>
              </a:rPr>
              <a:t>Incremental loads using watermarking techniques.</a:t>
            </a:r>
          </a:p>
          <a:p>
            <a:pPr marL="539749" lvl="1" indent="-269875" algn="l">
              <a:lnSpc>
                <a:spcPts val="4249"/>
              </a:lnSpc>
              <a:buFont typeface="Arial"/>
              <a:buChar char="•"/>
            </a:pPr>
            <a:r>
              <a:rPr lang="en-US" sz="2499">
                <a:solidFill>
                  <a:srgbClr val="FDFBFB"/>
                </a:solidFill>
                <a:latin typeface="Poppins"/>
                <a:ea typeface="Poppins"/>
                <a:cs typeface="Poppins"/>
                <a:sym typeface="Poppins"/>
              </a:rPr>
              <a:t>Parameterized pipelines for reusability.</a:t>
            </a:r>
          </a:p>
          <a:p>
            <a:pPr marL="539749" lvl="1" indent="-269875" algn="l">
              <a:lnSpc>
                <a:spcPts val="4249"/>
              </a:lnSpc>
              <a:buFont typeface="Arial"/>
              <a:buChar char="•"/>
            </a:pPr>
            <a:r>
              <a:rPr lang="en-US" sz="2499">
                <a:solidFill>
                  <a:srgbClr val="FDFBFB"/>
                </a:solidFill>
                <a:latin typeface="Poppins"/>
                <a:ea typeface="Poppins"/>
                <a:cs typeface="Poppins"/>
                <a:sym typeface="Poppins"/>
              </a:rPr>
              <a:t>Automated deployments via DevOps release pipelines.</a:t>
            </a:r>
          </a:p>
        </p:txBody>
      </p:sp>
    </p:spTree>
  </p:cSld>
  <p:clrMapOvr>
    <a:masterClrMapping/>
  </p:clrMapOvr>
  <p:transition spd="slow">
    <p:cover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76915" y="1648741"/>
            <a:ext cx="4987278" cy="1011555"/>
          </a:xfrm>
          <a:prstGeom prst="rect">
            <a:avLst/>
          </a:prstGeom>
        </p:spPr>
        <p:txBody>
          <a:bodyPr lIns="0" tIns="0" rIns="0" bIns="0" rtlCol="0" anchor="t">
            <a:spAutoFit/>
          </a:bodyPr>
          <a:lstStyle/>
          <a:p>
            <a:pPr algn="l">
              <a:lnSpc>
                <a:spcPts val="7410"/>
              </a:lnSpc>
            </a:pPr>
            <a:r>
              <a:rPr lang="en-US" sz="6500" b="1">
                <a:solidFill>
                  <a:srgbClr val="1C2120"/>
                </a:solidFill>
                <a:latin typeface="Poppins Bold"/>
                <a:ea typeface="Poppins Bold"/>
                <a:cs typeface="Poppins Bold"/>
                <a:sym typeface="Poppins Bold"/>
              </a:rPr>
              <a:t>Conclusion</a:t>
            </a:r>
          </a:p>
        </p:txBody>
      </p:sp>
      <p:grpSp>
        <p:nvGrpSpPr>
          <p:cNvPr id="3" name="Group 3"/>
          <p:cNvGrpSpPr/>
          <p:nvPr/>
        </p:nvGrpSpPr>
        <p:grpSpPr>
          <a:xfrm>
            <a:off x="-835969" y="6492589"/>
            <a:ext cx="20530640" cy="4103030"/>
            <a:chOff x="0" y="0"/>
            <a:chExt cx="6872801" cy="1373523"/>
          </a:xfrm>
        </p:grpSpPr>
        <p:sp>
          <p:nvSpPr>
            <p:cNvPr id="4" name="Freeform 4"/>
            <p:cNvSpPr/>
            <p:nvPr/>
          </p:nvSpPr>
          <p:spPr>
            <a:xfrm>
              <a:off x="0" y="0"/>
              <a:ext cx="6872801" cy="1373523"/>
            </a:xfrm>
            <a:custGeom>
              <a:avLst/>
              <a:gdLst/>
              <a:ahLst/>
              <a:cxnLst/>
              <a:rect l="l" t="t" r="r" b="b"/>
              <a:pathLst>
                <a:path w="6872801" h="1373523">
                  <a:moveTo>
                    <a:pt x="0" y="0"/>
                  </a:moveTo>
                  <a:lnTo>
                    <a:pt x="6872801" y="0"/>
                  </a:lnTo>
                  <a:lnTo>
                    <a:pt x="6872801" y="1373523"/>
                  </a:lnTo>
                  <a:lnTo>
                    <a:pt x="0" y="1373523"/>
                  </a:lnTo>
                  <a:close/>
                </a:path>
              </a:pathLst>
            </a:custGeom>
            <a:solidFill>
              <a:srgbClr val="AAD7D4"/>
            </a:solidFill>
            <a:ln cap="sq">
              <a:noFill/>
              <a:prstDash val="solid"/>
              <a:miter/>
            </a:ln>
          </p:spPr>
        </p:sp>
        <p:sp>
          <p:nvSpPr>
            <p:cNvPr id="5" name="TextBox 5"/>
            <p:cNvSpPr txBox="1"/>
            <p:nvPr/>
          </p:nvSpPr>
          <p:spPr>
            <a:xfrm>
              <a:off x="0" y="85725"/>
              <a:ext cx="6872801" cy="1287798"/>
            </a:xfrm>
            <a:prstGeom prst="rect">
              <a:avLst/>
            </a:prstGeom>
          </p:spPr>
          <p:txBody>
            <a:bodyPr lIns="50800" tIns="50800" rIns="50800" bIns="50800" rtlCol="0" anchor="ctr"/>
            <a:lstStyle/>
            <a:p>
              <a:pPr algn="ctr">
                <a:lnSpc>
                  <a:spcPts val="1925"/>
                </a:lnSpc>
              </a:pPr>
              <a:endParaRPr/>
            </a:p>
          </p:txBody>
        </p:sp>
      </p:grpSp>
      <p:grpSp>
        <p:nvGrpSpPr>
          <p:cNvPr id="6" name="Group 6"/>
          <p:cNvGrpSpPr/>
          <p:nvPr/>
        </p:nvGrpSpPr>
        <p:grpSpPr>
          <a:xfrm>
            <a:off x="7990522" y="4669547"/>
            <a:ext cx="9561870" cy="3418834"/>
            <a:chOff x="0" y="0"/>
            <a:chExt cx="2518353" cy="900434"/>
          </a:xfrm>
        </p:grpSpPr>
        <p:sp>
          <p:nvSpPr>
            <p:cNvPr id="7" name="Freeform 7"/>
            <p:cNvSpPr/>
            <p:nvPr/>
          </p:nvSpPr>
          <p:spPr>
            <a:xfrm>
              <a:off x="0" y="0"/>
              <a:ext cx="2518353" cy="900434"/>
            </a:xfrm>
            <a:custGeom>
              <a:avLst/>
              <a:gdLst/>
              <a:ahLst/>
              <a:cxnLst/>
              <a:rect l="l" t="t" r="r" b="b"/>
              <a:pathLst>
                <a:path w="2518353" h="900434">
                  <a:moveTo>
                    <a:pt x="24290" y="0"/>
                  </a:moveTo>
                  <a:lnTo>
                    <a:pt x="2494063" y="0"/>
                  </a:lnTo>
                  <a:cubicBezTo>
                    <a:pt x="2507478" y="0"/>
                    <a:pt x="2518353" y="10875"/>
                    <a:pt x="2518353" y="24290"/>
                  </a:cubicBezTo>
                  <a:lnTo>
                    <a:pt x="2518353" y="876144"/>
                  </a:lnTo>
                  <a:cubicBezTo>
                    <a:pt x="2518353" y="889559"/>
                    <a:pt x="2507478" y="900434"/>
                    <a:pt x="2494063" y="900434"/>
                  </a:cubicBezTo>
                  <a:lnTo>
                    <a:pt x="24290" y="900434"/>
                  </a:lnTo>
                  <a:cubicBezTo>
                    <a:pt x="10875" y="900434"/>
                    <a:pt x="0" y="889559"/>
                    <a:pt x="0" y="876144"/>
                  </a:cubicBezTo>
                  <a:lnTo>
                    <a:pt x="0" y="24290"/>
                  </a:lnTo>
                  <a:cubicBezTo>
                    <a:pt x="0" y="10875"/>
                    <a:pt x="10875" y="0"/>
                    <a:pt x="24290" y="0"/>
                  </a:cubicBezTo>
                  <a:close/>
                </a:path>
              </a:pathLst>
            </a:custGeom>
            <a:solidFill>
              <a:srgbClr val="106861"/>
            </a:solidFill>
          </p:spPr>
        </p:sp>
        <p:sp>
          <p:nvSpPr>
            <p:cNvPr id="8" name="TextBox 8"/>
            <p:cNvSpPr txBox="1"/>
            <p:nvPr/>
          </p:nvSpPr>
          <p:spPr>
            <a:xfrm>
              <a:off x="0" y="-38100"/>
              <a:ext cx="2518353" cy="938534"/>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8232887" y="5000625"/>
            <a:ext cx="9077141" cy="2651125"/>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DFBFB"/>
                </a:solidFill>
                <a:latin typeface="Poppins"/>
                <a:ea typeface="Poppins"/>
                <a:cs typeface="Poppins"/>
                <a:sym typeface="Poppins"/>
              </a:rPr>
              <a:t>End-to-end data pipeline successfully implemented.</a:t>
            </a:r>
          </a:p>
          <a:p>
            <a:pPr marL="539749" lvl="1" indent="-269875" algn="l">
              <a:lnSpc>
                <a:spcPts val="4249"/>
              </a:lnSpc>
              <a:buFont typeface="Arial"/>
              <a:buChar char="•"/>
            </a:pPr>
            <a:r>
              <a:rPr lang="en-US" sz="2499">
                <a:solidFill>
                  <a:srgbClr val="FDFBFB"/>
                </a:solidFill>
                <a:latin typeface="Poppins"/>
                <a:ea typeface="Poppins"/>
                <a:cs typeface="Poppins"/>
                <a:sym typeface="Poppins"/>
              </a:rPr>
              <a:t>Verified seamless data movement and integration with analytics layer.</a:t>
            </a:r>
          </a:p>
          <a:p>
            <a:pPr marL="539749" lvl="1" indent="-269875" algn="l">
              <a:lnSpc>
                <a:spcPts val="4249"/>
              </a:lnSpc>
              <a:buFont typeface="Arial"/>
              <a:buChar char="•"/>
            </a:pPr>
            <a:r>
              <a:rPr lang="en-US" sz="2499">
                <a:solidFill>
                  <a:srgbClr val="FDFBFB"/>
                </a:solidFill>
                <a:latin typeface="Poppins"/>
                <a:ea typeface="Poppins"/>
                <a:cs typeface="Poppins"/>
                <a:sym typeface="Poppins"/>
              </a:rPr>
              <a:t>Gained hands-on experience in ADF pipeline orchestration and DevOps integration.</a:t>
            </a:r>
          </a:p>
        </p:txBody>
      </p:sp>
    </p:spTree>
  </p:cSld>
  <p:clrMapOvr>
    <a:masterClrMapping/>
  </p:clrMapOvr>
  <p:transition spd="slow">
    <p:cover dir="rd"/>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AAD7D4"/>
        </a:solidFill>
        <a:effectLst/>
      </p:bgPr>
    </p:bg>
    <p:spTree>
      <p:nvGrpSpPr>
        <p:cNvPr id="1" name=""/>
        <p:cNvGrpSpPr/>
        <p:nvPr/>
      </p:nvGrpSpPr>
      <p:grpSpPr>
        <a:xfrm>
          <a:off x="0" y="0"/>
          <a:ext cx="0" cy="0"/>
          <a:chOff x="0" y="0"/>
          <a:chExt cx="0" cy="0"/>
        </a:xfrm>
      </p:grpSpPr>
      <p:sp>
        <p:nvSpPr>
          <p:cNvPr id="2" name="TextBox 2"/>
          <p:cNvSpPr txBox="1"/>
          <p:nvPr/>
        </p:nvSpPr>
        <p:spPr>
          <a:xfrm>
            <a:off x="3182017" y="4063522"/>
            <a:ext cx="11923966" cy="1563044"/>
          </a:xfrm>
          <a:prstGeom prst="rect">
            <a:avLst/>
          </a:prstGeom>
        </p:spPr>
        <p:txBody>
          <a:bodyPr lIns="0" tIns="0" rIns="0" bIns="0" rtlCol="0" anchor="t">
            <a:spAutoFit/>
          </a:bodyPr>
          <a:lstStyle/>
          <a:p>
            <a:pPr algn="ctr">
              <a:lnSpc>
                <a:spcPts val="10460"/>
              </a:lnSpc>
            </a:pPr>
            <a:r>
              <a:rPr lang="en-US" sz="12023" b="1">
                <a:solidFill>
                  <a:srgbClr val="1C2120"/>
                </a:solidFill>
                <a:latin typeface="Poppins Bold"/>
                <a:ea typeface="Poppins Bold"/>
                <a:cs typeface="Poppins Bold"/>
                <a:sym typeface="Poppins Bold"/>
              </a:rPr>
              <a:t>Thank you !</a:t>
            </a:r>
          </a:p>
        </p:txBody>
      </p:sp>
      <p:grpSp>
        <p:nvGrpSpPr>
          <p:cNvPr id="3" name="Group 3"/>
          <p:cNvGrpSpPr/>
          <p:nvPr/>
        </p:nvGrpSpPr>
        <p:grpSpPr>
          <a:xfrm>
            <a:off x="5652409" y="6834602"/>
            <a:ext cx="6983181" cy="669188"/>
            <a:chOff x="0" y="0"/>
            <a:chExt cx="1839192" cy="176247"/>
          </a:xfrm>
        </p:grpSpPr>
        <p:sp>
          <p:nvSpPr>
            <p:cNvPr id="4" name="Freeform 4"/>
            <p:cNvSpPr/>
            <p:nvPr/>
          </p:nvSpPr>
          <p:spPr>
            <a:xfrm>
              <a:off x="0" y="0"/>
              <a:ext cx="1839192" cy="176247"/>
            </a:xfrm>
            <a:custGeom>
              <a:avLst/>
              <a:gdLst/>
              <a:ahLst/>
              <a:cxnLst/>
              <a:rect l="l" t="t" r="r" b="b"/>
              <a:pathLst>
                <a:path w="1839192" h="176247">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id="5" name="TextBox 5"/>
            <p:cNvSpPr txBox="1"/>
            <p:nvPr/>
          </p:nvSpPr>
          <p:spPr>
            <a:xfrm>
              <a:off x="0" y="-38100"/>
              <a:ext cx="1839192" cy="214347"/>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916295" y="6947057"/>
            <a:ext cx="6617965" cy="482379"/>
          </a:xfrm>
          <a:prstGeom prst="rect">
            <a:avLst/>
          </a:prstGeom>
        </p:spPr>
        <p:txBody>
          <a:bodyPr lIns="0" tIns="0" rIns="0" bIns="0" rtlCol="0" anchor="t">
            <a:spAutoFit/>
          </a:bodyPr>
          <a:lstStyle/>
          <a:p>
            <a:pPr algn="ctr">
              <a:lnSpc>
                <a:spcPts val="3445"/>
              </a:lnSpc>
            </a:pPr>
            <a:r>
              <a:rPr lang="en-US" sz="3445" spc="-68" dirty="0">
                <a:solidFill>
                  <a:srgbClr val="1C2120"/>
                </a:solidFill>
                <a:latin typeface="Poppins"/>
                <a:ea typeface="Poppins"/>
                <a:cs typeface="Poppins"/>
                <a:sym typeface="Poppins"/>
              </a:rPr>
              <a:t>OPEN TO QUESTIONS!</a:t>
            </a:r>
          </a:p>
        </p:txBody>
      </p:sp>
    </p:spTree>
  </p:cSld>
  <p:clrMapOvr>
    <a:masterClrMapping/>
  </p:clrMapOvr>
  <p:transition spd="slow">
    <p:cover dir="l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825</Words>
  <Application>Microsoft Office PowerPoint</Application>
  <PresentationFormat>Custom</PresentationFormat>
  <Paragraphs>96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Tenor Sans</vt:lpstr>
      <vt:lpstr>Calibri</vt:lpstr>
      <vt:lpstr>Arial</vt:lpstr>
      <vt:lpstr>Poppins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Movement Pipeline using Azure Data Factory &amp; Azure DevOps</dc:title>
  <cp:lastModifiedBy>Yogeshwar N S</cp:lastModifiedBy>
  <cp:revision>3</cp:revision>
  <dcterms:created xsi:type="dcterms:W3CDTF">2006-08-16T00:00:00Z</dcterms:created>
  <dcterms:modified xsi:type="dcterms:W3CDTF">2025-08-29T12:00:32Z</dcterms:modified>
  <dc:identifier>DAGxRbgX6xM</dc:identifier>
</cp:coreProperties>
</file>