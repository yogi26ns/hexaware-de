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8288000" cy="10287000"/>
  <p:notesSz cx="6858000" cy="9144000"/>
  <p:embeddedFontLst>
    <p:embeddedFont>
      <p:font typeface="DM Sans" panose="020F0502020204030204" pitchFamily="2" charset="0"/>
      <p:regular r:id="rId32"/>
    </p:embeddedFont>
    <p:embeddedFont>
      <p:font typeface="DM Sans Bold" panose="020B0604020202020204" charset="0"/>
      <p:regular r:id="rId33"/>
    </p:embeddedFont>
    <p:embeddedFont>
      <p:font typeface="Open Sans Bold" panose="020B0604020202020204" charset="0"/>
      <p:regular r:id="rId34"/>
    </p:embeddedFont>
    <p:embeddedFont>
      <p:font typeface="Open Sans Light" panose="020F0502020204030204" pitchFamily="34" charset="0"/>
      <p:regular r:id="rId35"/>
    </p:embeddedFont>
    <p:embeddedFont>
      <p:font typeface="Poppins" panose="00000500000000000000" pitchFamily="2" charset="0"/>
      <p:regular r:id="rId36"/>
    </p:embeddedFont>
    <p:embeddedFont>
      <p:font typeface="Poppins Bold" panose="020B0604020202020204" charset="0"/>
      <p:regular r:id="rId37"/>
    </p:embeddedFont>
    <p:embeddedFont>
      <p:font typeface="Poppins Semi-Bold" panose="020B0604020202020204" charset="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01622" y="-767350"/>
            <a:ext cx="22013892" cy="12354774"/>
          </a:xfrm>
          <a:custGeom>
            <a:avLst/>
            <a:gdLst/>
            <a:ahLst/>
            <a:cxnLst/>
            <a:rect l="l" t="t" r="r" b="b"/>
            <a:pathLst>
              <a:path w="22013892" h="12354774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467" b="-946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10563" y="2149180"/>
            <a:ext cx="13066873" cy="44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18"/>
              </a:lnSpc>
            </a:pPr>
            <a:r>
              <a:rPr lang="en-US" sz="12998" b="1" spc="-701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REAL-TIME ANALYTICS DASHBOARD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974372" y="7178505"/>
            <a:ext cx="8339257" cy="669188"/>
            <a:chOff x="0" y="0"/>
            <a:chExt cx="11119009" cy="892251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1119009" cy="892251"/>
              <a:chOff x="0" y="0"/>
              <a:chExt cx="2196347" cy="17624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96347" cy="176247"/>
              </a:xfrm>
              <a:custGeom>
                <a:avLst/>
                <a:gdLst/>
                <a:ahLst/>
                <a:cxnLst/>
                <a:rect l="l" t="t" r="r" b="b"/>
                <a:pathLst>
                  <a:path w="2196347" h="176247">
                    <a:moveTo>
                      <a:pt x="0" y="0"/>
                    </a:moveTo>
                    <a:lnTo>
                      <a:pt x="2196347" y="0"/>
                    </a:lnTo>
                    <a:lnTo>
                      <a:pt x="2196347" y="176247"/>
                    </a:lnTo>
                    <a:lnTo>
                      <a:pt x="0" y="176247"/>
                    </a:lnTo>
                    <a:close/>
                  </a:path>
                </a:pathLst>
              </a:custGeom>
              <a:solidFill>
                <a:srgbClr val="AAD7D4"/>
              </a:solidFill>
              <a:ln w="28575" cap="sq">
                <a:solidFill>
                  <a:srgbClr val="1C212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2196347" cy="2143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03200" y="137266"/>
              <a:ext cx="10512609" cy="6558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45"/>
                </a:lnSpc>
              </a:pPr>
              <a:r>
                <a:rPr lang="en-US" sz="3445" spc="-68">
                  <a:solidFill>
                    <a:srgbClr val="1C2120"/>
                  </a:solidFill>
                  <a:latin typeface="Poppins"/>
                  <a:ea typeface="Poppins"/>
                  <a:cs typeface="Poppins"/>
                  <a:sym typeface="Poppins"/>
                </a:rPr>
                <a:t>USING AZURE DATABRICKS &amp; PYSPARK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7788" y="-177024"/>
            <a:ext cx="7097803" cy="11057957"/>
          </a:xfrm>
          <a:custGeom>
            <a:avLst/>
            <a:gdLst/>
            <a:ahLst/>
            <a:cxnLst/>
            <a:rect l="l" t="t" r="r" b="b"/>
            <a:pathLst>
              <a:path w="7097803" h="11057957">
                <a:moveTo>
                  <a:pt x="0" y="0"/>
                </a:moveTo>
                <a:lnTo>
                  <a:pt x="7097803" y="0"/>
                </a:lnTo>
                <a:lnTo>
                  <a:pt x="7097803" y="11057957"/>
                </a:lnTo>
                <a:lnTo>
                  <a:pt x="0" y="11057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1569" r="-226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14350" y="-177024"/>
            <a:ext cx="7454365" cy="10601584"/>
            <a:chOff x="0" y="0"/>
            <a:chExt cx="1963290" cy="27921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63290" cy="2792187"/>
            </a:xfrm>
            <a:custGeom>
              <a:avLst/>
              <a:gdLst/>
              <a:ahLst/>
              <a:cxnLst/>
              <a:rect l="l" t="t" r="r" b="b"/>
              <a:pathLst>
                <a:path w="1963290" h="2792187">
                  <a:moveTo>
                    <a:pt x="0" y="0"/>
                  </a:moveTo>
                  <a:lnTo>
                    <a:pt x="1963290" y="0"/>
                  </a:lnTo>
                  <a:lnTo>
                    <a:pt x="1963290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63290" cy="2830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595420" y="2636305"/>
            <a:ext cx="8011990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Agenda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52271" y="4527580"/>
            <a:ext cx="7898287" cy="3467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roject Statement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Objectives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Architecture &amp; Data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Implementation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Results &amp; Optimizations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704495" y="3942578"/>
            <a:ext cx="11715384" cy="3467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Build a </a:t>
            </a: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real-time analytics dashboard for cryptocurrency markets.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Ingest data from Binance API.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Process data using Azure Databricks + PySpark.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Provide auto-updating visual insights for traders &amp; analysts.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5639992" y="7410289"/>
            <a:ext cx="2467826" cy="1083689"/>
            <a:chOff x="0" y="0"/>
            <a:chExt cx="649962" cy="2854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49962" cy="285416"/>
            </a:xfrm>
            <a:custGeom>
              <a:avLst/>
              <a:gdLst/>
              <a:ahLst/>
              <a:cxnLst/>
              <a:rect l="l" t="t" r="r" b="b"/>
              <a:pathLst>
                <a:path w="649962" h="285416">
                  <a:moveTo>
                    <a:pt x="142708" y="0"/>
                  </a:moveTo>
                  <a:lnTo>
                    <a:pt x="507254" y="0"/>
                  </a:lnTo>
                  <a:cubicBezTo>
                    <a:pt x="545103" y="0"/>
                    <a:pt x="581401" y="15035"/>
                    <a:pt x="608164" y="41798"/>
                  </a:cubicBezTo>
                  <a:cubicBezTo>
                    <a:pt x="634927" y="68561"/>
                    <a:pt x="649962" y="104859"/>
                    <a:pt x="649962" y="142708"/>
                  </a:cubicBezTo>
                  <a:lnTo>
                    <a:pt x="649962" y="142708"/>
                  </a:lnTo>
                  <a:cubicBezTo>
                    <a:pt x="649962" y="221523"/>
                    <a:pt x="586070" y="285416"/>
                    <a:pt x="507254" y="285416"/>
                  </a:cubicBezTo>
                  <a:lnTo>
                    <a:pt x="142708" y="285416"/>
                  </a:lnTo>
                  <a:cubicBezTo>
                    <a:pt x="63893" y="285416"/>
                    <a:pt x="0" y="221523"/>
                    <a:pt x="0" y="142708"/>
                  </a:cubicBezTo>
                  <a:lnTo>
                    <a:pt x="0" y="142708"/>
                  </a:lnTo>
                  <a:cubicBezTo>
                    <a:pt x="0" y="63893"/>
                    <a:pt x="63893" y="0"/>
                    <a:pt x="142708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649962" cy="3330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API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837283" y="2260853"/>
            <a:ext cx="10984319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Statement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081759" y="7410289"/>
            <a:ext cx="3086100" cy="1083689"/>
            <a:chOff x="0" y="0"/>
            <a:chExt cx="812800" cy="2854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285416"/>
            </a:xfrm>
            <a:custGeom>
              <a:avLst/>
              <a:gdLst/>
              <a:ahLst/>
              <a:cxnLst/>
              <a:rect l="l" t="t" r="r" b="b"/>
              <a:pathLst>
                <a:path w="812800" h="285416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57475"/>
                  </a:lnTo>
                  <a:cubicBezTo>
                    <a:pt x="812800" y="191407"/>
                    <a:pt x="799321" y="223949"/>
                    <a:pt x="775327" y="247943"/>
                  </a:cubicBezTo>
                  <a:cubicBezTo>
                    <a:pt x="751333" y="271937"/>
                    <a:pt x="718791" y="285416"/>
                    <a:pt x="684859" y="285416"/>
                  </a:cubicBezTo>
                  <a:lnTo>
                    <a:pt x="127941" y="285416"/>
                  </a:lnTo>
                  <a:cubicBezTo>
                    <a:pt x="94009" y="285416"/>
                    <a:pt x="61467" y="271937"/>
                    <a:pt x="37473" y="247943"/>
                  </a:cubicBezTo>
                  <a:cubicBezTo>
                    <a:pt x="13479" y="223949"/>
                    <a:pt x="0" y="191407"/>
                    <a:pt x="0" y="157475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812800" cy="3330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Processing 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141799" y="7410289"/>
            <a:ext cx="3086100" cy="1083689"/>
            <a:chOff x="0" y="0"/>
            <a:chExt cx="812800" cy="28541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285416"/>
            </a:xfrm>
            <a:custGeom>
              <a:avLst/>
              <a:gdLst/>
              <a:ahLst/>
              <a:cxnLst/>
              <a:rect l="l" t="t" r="r" b="b"/>
              <a:pathLst>
                <a:path w="812800" h="285416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57475"/>
                  </a:lnTo>
                  <a:cubicBezTo>
                    <a:pt x="812800" y="191407"/>
                    <a:pt x="799321" y="223949"/>
                    <a:pt x="775327" y="247943"/>
                  </a:cubicBezTo>
                  <a:cubicBezTo>
                    <a:pt x="751333" y="271937"/>
                    <a:pt x="718791" y="285416"/>
                    <a:pt x="684859" y="285416"/>
                  </a:cubicBezTo>
                  <a:lnTo>
                    <a:pt x="127941" y="285416"/>
                  </a:lnTo>
                  <a:cubicBezTo>
                    <a:pt x="94009" y="285416"/>
                    <a:pt x="61467" y="271937"/>
                    <a:pt x="37473" y="247943"/>
                  </a:cubicBezTo>
                  <a:cubicBezTo>
                    <a:pt x="13479" y="223949"/>
                    <a:pt x="0" y="191407"/>
                    <a:pt x="0" y="157475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812800" cy="3330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Dashboard 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8107818" y="7952134"/>
            <a:ext cx="97394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5" name="AutoShape 15"/>
          <p:cNvSpPr/>
          <p:nvPr/>
        </p:nvSpPr>
        <p:spPr>
          <a:xfrm flipH="1">
            <a:off x="12167859" y="7952134"/>
            <a:ext cx="97394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triangle" w="lg" len="med"/>
            <a:tailEnd type="non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01622" y="-767350"/>
            <a:ext cx="22013892" cy="12354774"/>
          </a:xfrm>
          <a:custGeom>
            <a:avLst/>
            <a:gdLst/>
            <a:ahLst/>
            <a:cxnLst/>
            <a:rect l="l" t="t" r="r" b="b"/>
            <a:pathLst>
              <a:path w="22013892" h="12354774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467" b="-946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10563" y="4479653"/>
            <a:ext cx="13066873" cy="165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18"/>
              </a:lnSpc>
            </a:pPr>
            <a:r>
              <a:rPr lang="en-US" sz="12998" b="1" spc="-701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PROJECT DETAILS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787382" y="4662939"/>
            <a:ext cx="10338693" cy="5143500"/>
          </a:xfrm>
          <a:custGeom>
            <a:avLst/>
            <a:gdLst/>
            <a:ahLst/>
            <a:cxnLst/>
            <a:rect l="l" t="t" r="r" b="b"/>
            <a:pathLst>
              <a:path w="10338693" h="5143500">
                <a:moveTo>
                  <a:pt x="0" y="0"/>
                </a:moveTo>
                <a:lnTo>
                  <a:pt x="10338693" y="0"/>
                </a:lnTo>
                <a:lnTo>
                  <a:pt x="10338693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837283" y="4624839"/>
            <a:ext cx="4769571" cy="3963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Why? Cryptocurrency is h</a:t>
            </a: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ighly volatile &amp; runs 24/7.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Need real-time monitoring for decision-making.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837283" y="2260853"/>
            <a:ext cx="10984319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83928"/>
            <a:ext cx="18395453" cy="10203072"/>
          </a:xfrm>
          <a:custGeom>
            <a:avLst/>
            <a:gdLst/>
            <a:ahLst/>
            <a:cxnLst/>
            <a:rect l="l" t="t" r="r" b="b"/>
            <a:pathLst>
              <a:path w="18395453" h="10203072">
                <a:moveTo>
                  <a:pt x="0" y="0"/>
                </a:moveTo>
                <a:lnTo>
                  <a:pt x="18395453" y="0"/>
                </a:lnTo>
                <a:lnTo>
                  <a:pt x="18395453" y="10203072"/>
                </a:lnTo>
                <a:lnTo>
                  <a:pt x="0" y="102030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</a:blip>
            <a:stretch>
              <a:fillRect l="-11424" t="-10674" b="-23420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837283" y="3657468"/>
            <a:ext cx="11715384" cy="3467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9"/>
              </a:lnSpc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Pipeline Components:</a:t>
            </a:r>
          </a:p>
          <a:p>
            <a:pPr marL="629977" lvl="1" indent="-314989" algn="l">
              <a:lnSpc>
                <a:spcPts val="3939"/>
              </a:lnSpc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Data Source: Binance API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Ingestion: Azure</a:t>
            </a: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Databricks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Processing: PySpark Structured Streaming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Visualization: Matplotlib, Plotly, Power BI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Outcome: Actionable, real-time crypto insights.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837283" y="2260853"/>
            <a:ext cx="10984319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Overview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797019" y="7411860"/>
            <a:ext cx="11462281" cy="1846440"/>
            <a:chOff x="0" y="0"/>
            <a:chExt cx="15283041" cy="2461920"/>
          </a:xfrm>
        </p:grpSpPr>
        <p:grpSp>
          <p:nvGrpSpPr>
            <p:cNvPr id="7" name="Group 7"/>
            <p:cNvGrpSpPr/>
            <p:nvPr/>
          </p:nvGrpSpPr>
          <p:grpSpPr>
            <a:xfrm>
              <a:off x="1165831" y="0"/>
              <a:ext cx="3290435" cy="1444919"/>
              <a:chOff x="0" y="0"/>
              <a:chExt cx="649962" cy="28541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49962" cy="285416"/>
              </a:xfrm>
              <a:custGeom>
                <a:avLst/>
                <a:gdLst/>
                <a:ahLst/>
                <a:cxnLst/>
                <a:rect l="l" t="t" r="r" b="b"/>
                <a:pathLst>
                  <a:path w="649962" h="285416">
                    <a:moveTo>
                      <a:pt x="142708" y="0"/>
                    </a:moveTo>
                    <a:lnTo>
                      <a:pt x="507254" y="0"/>
                    </a:lnTo>
                    <a:cubicBezTo>
                      <a:pt x="545103" y="0"/>
                      <a:pt x="581401" y="15035"/>
                      <a:pt x="608164" y="41798"/>
                    </a:cubicBezTo>
                    <a:cubicBezTo>
                      <a:pt x="634927" y="68561"/>
                      <a:pt x="649962" y="104859"/>
                      <a:pt x="649962" y="142708"/>
                    </a:cubicBezTo>
                    <a:lnTo>
                      <a:pt x="649962" y="142708"/>
                    </a:lnTo>
                    <a:cubicBezTo>
                      <a:pt x="649962" y="221523"/>
                      <a:pt x="586070" y="285416"/>
                      <a:pt x="507254" y="285416"/>
                    </a:cubicBezTo>
                    <a:lnTo>
                      <a:pt x="142708" y="285416"/>
                    </a:lnTo>
                    <a:cubicBezTo>
                      <a:pt x="63893" y="285416"/>
                      <a:pt x="0" y="221523"/>
                      <a:pt x="0" y="142708"/>
                    </a:cubicBezTo>
                    <a:lnTo>
                      <a:pt x="0" y="142708"/>
                    </a:lnTo>
                    <a:cubicBezTo>
                      <a:pt x="0" y="63893"/>
                      <a:pt x="63893" y="0"/>
                      <a:pt x="142708" y="0"/>
                    </a:cubicBezTo>
                    <a:close/>
                  </a:path>
                </a:pathLst>
              </a:custGeom>
              <a:solidFill>
                <a:srgbClr val="AAD7D4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649962" cy="33304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9"/>
                  </a:lnSpc>
                </a:pPr>
                <a:r>
                  <a:rPr lang="en-US" sz="2299" b="1">
                    <a:solidFill>
                      <a:srgbClr val="000000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Data ingestion</a:t>
                </a: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5754853" y="0"/>
              <a:ext cx="4114800" cy="1444919"/>
              <a:chOff x="0" y="0"/>
              <a:chExt cx="812800" cy="28541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28541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85416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57475"/>
                    </a:lnTo>
                    <a:cubicBezTo>
                      <a:pt x="812800" y="191407"/>
                      <a:pt x="799321" y="223949"/>
                      <a:pt x="775327" y="247943"/>
                    </a:cubicBezTo>
                    <a:cubicBezTo>
                      <a:pt x="751333" y="271937"/>
                      <a:pt x="718791" y="285416"/>
                      <a:pt x="684859" y="285416"/>
                    </a:cubicBezTo>
                    <a:lnTo>
                      <a:pt x="127941" y="285416"/>
                    </a:lnTo>
                    <a:cubicBezTo>
                      <a:pt x="94009" y="285416"/>
                      <a:pt x="61467" y="271937"/>
                      <a:pt x="37473" y="247943"/>
                    </a:cubicBezTo>
                    <a:cubicBezTo>
                      <a:pt x="13479" y="223949"/>
                      <a:pt x="0" y="191407"/>
                      <a:pt x="0" y="157475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AAD7D4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812800" cy="33304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9"/>
                  </a:lnSpc>
                </a:pPr>
                <a:r>
                  <a:rPr lang="en-US" sz="2299" b="1">
                    <a:solidFill>
                      <a:srgbClr val="000000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Streaming processing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11168241" y="0"/>
              <a:ext cx="4114800" cy="1444919"/>
              <a:chOff x="0" y="0"/>
              <a:chExt cx="812800" cy="28541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28541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85416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57475"/>
                    </a:lnTo>
                    <a:cubicBezTo>
                      <a:pt x="812800" y="191407"/>
                      <a:pt x="799321" y="223949"/>
                      <a:pt x="775327" y="247943"/>
                    </a:cubicBezTo>
                    <a:cubicBezTo>
                      <a:pt x="751333" y="271937"/>
                      <a:pt x="718791" y="285416"/>
                      <a:pt x="684859" y="285416"/>
                    </a:cubicBezTo>
                    <a:lnTo>
                      <a:pt x="127941" y="285416"/>
                    </a:lnTo>
                    <a:cubicBezTo>
                      <a:pt x="94009" y="285416"/>
                      <a:pt x="61467" y="271937"/>
                      <a:pt x="37473" y="247943"/>
                    </a:cubicBezTo>
                    <a:cubicBezTo>
                      <a:pt x="13479" y="223949"/>
                      <a:pt x="0" y="191407"/>
                      <a:pt x="0" y="157475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AAD7D4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812800" cy="33304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9"/>
                  </a:lnSpc>
                </a:pPr>
                <a:r>
                  <a:rPr lang="en-US" sz="2299" b="1">
                    <a:solidFill>
                      <a:srgbClr val="000000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Visualization</a:t>
                </a:r>
              </a:p>
            </p:txBody>
          </p:sp>
        </p:grpSp>
        <p:sp>
          <p:nvSpPr>
            <p:cNvPr id="16" name="AutoShape 16"/>
            <p:cNvSpPr/>
            <p:nvPr/>
          </p:nvSpPr>
          <p:spPr>
            <a:xfrm>
              <a:off x="4456265" y="722459"/>
              <a:ext cx="1298588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7" name="AutoShape 17"/>
            <p:cNvSpPr/>
            <p:nvPr/>
          </p:nvSpPr>
          <p:spPr>
            <a:xfrm flipH="1">
              <a:off x="9869653" y="722459"/>
              <a:ext cx="1298588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triangle" w="lg" len="med"/>
              <a:tailEnd type="none" w="sm" len="sm"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0" y="1017001"/>
              <a:ext cx="3290435" cy="1444919"/>
              <a:chOff x="0" y="0"/>
              <a:chExt cx="649962" cy="28541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649962" cy="285416"/>
              </a:xfrm>
              <a:custGeom>
                <a:avLst/>
                <a:gdLst/>
                <a:ahLst/>
                <a:cxnLst/>
                <a:rect l="l" t="t" r="r" b="b"/>
                <a:pathLst>
                  <a:path w="649962" h="285416">
                    <a:moveTo>
                      <a:pt x="142708" y="0"/>
                    </a:moveTo>
                    <a:lnTo>
                      <a:pt x="507254" y="0"/>
                    </a:lnTo>
                    <a:cubicBezTo>
                      <a:pt x="545103" y="0"/>
                      <a:pt x="581401" y="15035"/>
                      <a:pt x="608164" y="41798"/>
                    </a:cubicBezTo>
                    <a:cubicBezTo>
                      <a:pt x="634927" y="68561"/>
                      <a:pt x="649962" y="104859"/>
                      <a:pt x="649962" y="142708"/>
                    </a:cubicBezTo>
                    <a:lnTo>
                      <a:pt x="649962" y="142708"/>
                    </a:lnTo>
                    <a:cubicBezTo>
                      <a:pt x="649962" y="221523"/>
                      <a:pt x="586070" y="285416"/>
                      <a:pt x="507254" y="285416"/>
                    </a:cubicBezTo>
                    <a:lnTo>
                      <a:pt x="142708" y="285416"/>
                    </a:lnTo>
                    <a:cubicBezTo>
                      <a:pt x="63893" y="285416"/>
                      <a:pt x="0" y="221523"/>
                      <a:pt x="0" y="142708"/>
                    </a:cubicBezTo>
                    <a:lnTo>
                      <a:pt x="0" y="142708"/>
                    </a:lnTo>
                    <a:cubicBezTo>
                      <a:pt x="0" y="63893"/>
                      <a:pt x="63893" y="0"/>
                      <a:pt x="142708" y="0"/>
                    </a:cubicBezTo>
                    <a:close/>
                  </a:path>
                </a:pathLst>
              </a:custGeom>
              <a:solidFill>
                <a:srgbClr val="AAD7D4">
                  <a:alpha val="17647"/>
                </a:srgbClr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649962" cy="33304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9"/>
                  </a:lnSpc>
                </a:pPr>
                <a:r>
                  <a:rPr lang="en-US" sz="2299" b="1">
                    <a:solidFill>
                      <a:srgbClr val="000000">
                        <a:alpha val="17647"/>
                      </a:srgbClr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API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589023" y="1017001"/>
              <a:ext cx="4114800" cy="1444919"/>
              <a:chOff x="0" y="0"/>
              <a:chExt cx="812800" cy="28541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28541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85416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57475"/>
                    </a:lnTo>
                    <a:cubicBezTo>
                      <a:pt x="812800" y="191407"/>
                      <a:pt x="799321" y="223949"/>
                      <a:pt x="775327" y="247943"/>
                    </a:cubicBezTo>
                    <a:cubicBezTo>
                      <a:pt x="751333" y="271937"/>
                      <a:pt x="718791" y="285416"/>
                      <a:pt x="684859" y="285416"/>
                    </a:cubicBezTo>
                    <a:lnTo>
                      <a:pt x="127941" y="285416"/>
                    </a:lnTo>
                    <a:cubicBezTo>
                      <a:pt x="94009" y="285416"/>
                      <a:pt x="61467" y="271937"/>
                      <a:pt x="37473" y="247943"/>
                    </a:cubicBezTo>
                    <a:cubicBezTo>
                      <a:pt x="13479" y="223949"/>
                      <a:pt x="0" y="191407"/>
                      <a:pt x="0" y="157475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AAD7D4">
                  <a:alpha val="17647"/>
                </a:srgbClr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812800" cy="33304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9"/>
                  </a:lnSpc>
                </a:pPr>
                <a:r>
                  <a:rPr lang="en-US" sz="2299" b="1">
                    <a:solidFill>
                      <a:srgbClr val="000000">
                        <a:alpha val="17647"/>
                      </a:srgbClr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Processing 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0002411" y="1017001"/>
              <a:ext cx="4114800" cy="1444919"/>
              <a:chOff x="0" y="0"/>
              <a:chExt cx="812800" cy="285416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28541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85416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57475"/>
                    </a:lnTo>
                    <a:cubicBezTo>
                      <a:pt x="812800" y="191407"/>
                      <a:pt x="799321" y="223949"/>
                      <a:pt x="775327" y="247943"/>
                    </a:cubicBezTo>
                    <a:cubicBezTo>
                      <a:pt x="751333" y="271937"/>
                      <a:pt x="718791" y="285416"/>
                      <a:pt x="684859" y="285416"/>
                    </a:cubicBezTo>
                    <a:lnTo>
                      <a:pt x="127941" y="285416"/>
                    </a:lnTo>
                    <a:cubicBezTo>
                      <a:pt x="94009" y="285416"/>
                      <a:pt x="61467" y="271937"/>
                      <a:pt x="37473" y="247943"/>
                    </a:cubicBezTo>
                    <a:cubicBezTo>
                      <a:pt x="13479" y="223949"/>
                      <a:pt x="0" y="191407"/>
                      <a:pt x="0" y="157475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AAD7D4">
                  <a:alpha val="17647"/>
                </a:srgbClr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812800" cy="33304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9"/>
                  </a:lnSpc>
                </a:pPr>
                <a:r>
                  <a:rPr lang="en-US" sz="2299" b="1">
                    <a:solidFill>
                      <a:srgbClr val="000000">
                        <a:alpha val="17647"/>
                      </a:srgbClr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Dashboard </a:t>
                </a:r>
              </a:p>
            </p:txBody>
          </p:sp>
        </p:grpSp>
        <p:sp>
          <p:nvSpPr>
            <p:cNvPr id="27" name="AutoShape 27"/>
            <p:cNvSpPr/>
            <p:nvPr/>
          </p:nvSpPr>
          <p:spPr>
            <a:xfrm>
              <a:off x="3290435" y="1739461"/>
              <a:ext cx="1298588" cy="0"/>
            </a:xfrm>
            <a:prstGeom prst="line">
              <a:avLst/>
            </a:prstGeom>
            <a:ln w="50800" cap="flat">
              <a:solidFill>
                <a:srgbClr val="000000">
                  <a:alpha val="17647"/>
                </a:srgbClr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8" name="AutoShape 28"/>
            <p:cNvSpPr/>
            <p:nvPr/>
          </p:nvSpPr>
          <p:spPr>
            <a:xfrm flipH="1">
              <a:off x="8703823" y="1739461"/>
              <a:ext cx="1298588" cy="0"/>
            </a:xfrm>
            <a:prstGeom prst="line">
              <a:avLst/>
            </a:prstGeom>
            <a:ln w="50800" cap="flat">
              <a:solidFill>
                <a:srgbClr val="000000">
                  <a:alpha val="17647"/>
                </a:srgbClr>
              </a:solidFill>
              <a:prstDash val="solid"/>
              <a:headEnd type="triangle" w="lg" len="med"/>
              <a:tailEnd type="none" w="sm" len="sm"/>
            </a:ln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37283" y="4033596"/>
            <a:ext cx="15037256" cy="5647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1568" lvl="1" indent="-325784" algn="l">
              <a:lnSpc>
                <a:spcPts val="4074"/>
              </a:lnSpc>
              <a:spcBef>
                <a:spcPct val="0"/>
              </a:spcBef>
              <a:buFont typeface="Arial"/>
              <a:buChar char="•"/>
            </a:pPr>
            <a:r>
              <a:rPr lang="en-US" sz="3017" b="1" spc="18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Real-Time Da</a:t>
            </a:r>
            <a:r>
              <a:rPr lang="en-US" sz="3017" b="1" u="none" spc="18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ta Ingestion</a:t>
            </a:r>
            <a:r>
              <a:rPr lang="en-US" sz="3017" u="none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Fetch live cryptocurrency data from Binance API.</a:t>
            </a:r>
          </a:p>
          <a:p>
            <a:pPr marL="651568" lvl="1" indent="-325784" algn="l">
              <a:lnSpc>
                <a:spcPts val="4074"/>
              </a:lnSpc>
              <a:spcBef>
                <a:spcPct val="0"/>
              </a:spcBef>
              <a:buFont typeface="Arial"/>
              <a:buChar char="•"/>
            </a:pPr>
            <a:r>
              <a:rPr lang="en-US" sz="3017" b="1" u="none" spc="18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Stream Processing</a:t>
            </a:r>
            <a:r>
              <a:rPr lang="en-US" sz="3017" u="none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Process continuous data efficiently with PySpark.</a:t>
            </a:r>
          </a:p>
          <a:p>
            <a:pPr marL="651568" lvl="1" indent="-325784" algn="l">
              <a:lnSpc>
                <a:spcPts val="4074"/>
              </a:lnSpc>
              <a:spcBef>
                <a:spcPct val="0"/>
              </a:spcBef>
              <a:buFont typeface="Arial"/>
              <a:buChar char="•"/>
            </a:pPr>
            <a:r>
              <a:rPr lang="en-US" sz="3017" b="1" u="none" spc="18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Compute Insights</a:t>
            </a:r>
            <a:r>
              <a:rPr lang="en-US" sz="3017" u="none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Calculate moving averages, RSI, volatility, and other market metrics.</a:t>
            </a:r>
          </a:p>
          <a:p>
            <a:pPr marL="651568" lvl="1" indent="-325784" algn="l">
              <a:lnSpc>
                <a:spcPts val="4074"/>
              </a:lnSpc>
              <a:spcBef>
                <a:spcPct val="0"/>
              </a:spcBef>
              <a:buFont typeface="Arial"/>
              <a:buChar char="•"/>
            </a:pPr>
            <a:r>
              <a:rPr lang="en-US" sz="3017" b="1" u="none" spc="18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Interactive Dashboard</a:t>
            </a:r>
            <a:r>
              <a:rPr lang="en-US" sz="3017" u="none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Auto-refreshing charts, price ranges, volume, sentiment, and performance tables.</a:t>
            </a:r>
          </a:p>
          <a:p>
            <a:pPr marL="651568" lvl="1" indent="-325784" algn="l">
              <a:lnSpc>
                <a:spcPts val="4074"/>
              </a:lnSpc>
              <a:spcBef>
                <a:spcPct val="0"/>
              </a:spcBef>
              <a:buFont typeface="Arial"/>
              <a:buChar char="•"/>
            </a:pPr>
            <a:r>
              <a:rPr lang="en-US" sz="3017" b="1" u="none" spc="18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Azure Databricks Integration</a:t>
            </a:r>
            <a:r>
              <a:rPr lang="en-US" sz="3017" u="none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Scalable cloud-based computation for distributed processing.</a:t>
            </a:r>
          </a:p>
          <a:p>
            <a:pPr marL="651568" lvl="1" indent="-325784" algn="l">
              <a:lnSpc>
                <a:spcPts val="4074"/>
              </a:lnSpc>
              <a:spcBef>
                <a:spcPct val="0"/>
              </a:spcBef>
              <a:buFont typeface="Arial"/>
              <a:buChar char="•"/>
            </a:pPr>
            <a:r>
              <a:rPr lang="en-US" sz="3017" b="1" u="none" spc="18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Efficiency &amp; Optimization</a:t>
            </a:r>
            <a:r>
              <a:rPr lang="en-US" sz="3017" u="none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Vectorized operations and optimized plotting for high performance.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37283" y="2260853"/>
            <a:ext cx="10984319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Objectives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470822" y="2875975"/>
            <a:ext cx="11346355" cy="6382325"/>
          </a:xfrm>
          <a:custGeom>
            <a:avLst/>
            <a:gdLst/>
            <a:ahLst/>
            <a:cxnLst/>
            <a:rect l="l" t="t" r="r" b="b"/>
            <a:pathLst>
              <a:path w="11346355" h="6382325">
                <a:moveTo>
                  <a:pt x="0" y="0"/>
                </a:moveTo>
                <a:lnTo>
                  <a:pt x="11346356" y="0"/>
                </a:lnTo>
                <a:lnTo>
                  <a:pt x="11346356" y="6382325"/>
                </a:lnTo>
                <a:lnTo>
                  <a:pt x="0" y="6382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123950"/>
            <a:ext cx="12548691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Architecture Diagram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990457" y="2761677"/>
            <a:ext cx="11715384" cy="2561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4"/>
              </a:lnSpc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Provides tick-level data:</a:t>
            </a:r>
          </a:p>
          <a:p>
            <a:pPr marL="651568" lvl="1" indent="-325784" algn="l">
              <a:lnSpc>
                <a:spcPts val="4074"/>
              </a:lnSpc>
              <a:buFont typeface="Arial"/>
              <a:buChar char="•"/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Prices</a:t>
            </a:r>
          </a:p>
          <a:p>
            <a:pPr marL="651568" lvl="1" indent="-325784" algn="l">
              <a:lnSpc>
                <a:spcPts val="4074"/>
              </a:lnSpc>
              <a:buFont typeface="Arial"/>
              <a:buChar char="•"/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Volumes</a:t>
            </a:r>
          </a:p>
          <a:p>
            <a:pPr marL="651568" lvl="1" indent="-325784" algn="l">
              <a:lnSpc>
                <a:spcPts val="4074"/>
              </a:lnSpc>
              <a:buFont typeface="Arial"/>
              <a:buChar char="•"/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Order Book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3017" spc="181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2120237" y="2809302"/>
            <a:ext cx="3956792" cy="3958773"/>
            <a:chOff x="0" y="0"/>
            <a:chExt cx="5275722" cy="5278364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5275722" cy="5278364"/>
              <a:chOff x="0" y="0"/>
              <a:chExt cx="940054" cy="9405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940054" cy="940525"/>
              </a:xfrm>
              <a:custGeom>
                <a:avLst/>
                <a:gdLst/>
                <a:ahLst/>
                <a:cxnLst/>
                <a:rect l="l" t="t" r="r" b="b"/>
                <a:pathLst>
                  <a:path w="940054" h="940525">
                    <a:moveTo>
                      <a:pt x="0" y="0"/>
                    </a:moveTo>
                    <a:lnTo>
                      <a:pt x="940054" y="0"/>
                    </a:lnTo>
                    <a:lnTo>
                      <a:pt x="940054" y="940525"/>
                    </a:lnTo>
                    <a:lnTo>
                      <a:pt x="0" y="94052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940054" cy="978625"/>
              </a:xfrm>
              <a:prstGeom prst="rect">
                <a:avLst/>
              </a:prstGeom>
            </p:spPr>
            <p:txBody>
              <a:bodyPr lIns="56315" tIns="56315" rIns="56315" bIns="56315" rtlCol="0" anchor="ctr"/>
              <a:lstStyle/>
              <a:p>
                <a:pPr algn="l">
                  <a:lnSpc>
                    <a:spcPts val="3080"/>
                  </a:lnSpc>
                </a:pPr>
                <a:r>
                  <a:rPr lang="en-US" sz="22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{ </a:t>
                </a:r>
              </a:p>
              <a:p>
                <a:pPr algn="l">
                  <a:lnSpc>
                    <a:spcPts val="3080"/>
                  </a:lnSpc>
                </a:pPr>
                <a:r>
                  <a:rPr lang="en-US" sz="22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"symbol": "BTCUSDT", </a:t>
                </a:r>
              </a:p>
              <a:p>
                <a:pPr algn="l">
                  <a:lnSpc>
                    <a:spcPts val="3080"/>
                  </a:lnSpc>
                </a:pPr>
                <a:r>
                  <a:rPr lang="en-US" sz="22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"price": "50123.45", </a:t>
                </a:r>
              </a:p>
              <a:p>
                <a:pPr algn="l">
                  <a:lnSpc>
                    <a:spcPts val="3080"/>
                  </a:lnSpc>
                </a:pPr>
                <a:r>
                  <a:rPr lang="en-US" sz="22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"volume": "12345.678" </a:t>
                </a:r>
              </a:p>
              <a:p>
                <a:pPr algn="l">
                  <a:lnSpc>
                    <a:spcPts val="3080"/>
                  </a:lnSpc>
                </a:pPr>
                <a:r>
                  <a:rPr lang="en-US" sz="22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}</a:t>
                </a:r>
              </a:p>
            </p:txBody>
          </p:sp>
        </p:grpSp>
        <p:sp>
          <p:nvSpPr>
            <p:cNvPr id="8" name="Freeform 8"/>
            <p:cNvSpPr/>
            <p:nvPr/>
          </p:nvSpPr>
          <p:spPr>
            <a:xfrm>
              <a:off x="0" y="0"/>
              <a:ext cx="1631417" cy="1331830"/>
            </a:xfrm>
            <a:custGeom>
              <a:avLst/>
              <a:gdLst/>
              <a:ahLst/>
              <a:cxnLst/>
              <a:rect l="l" t="t" r="r" b="b"/>
              <a:pathLst>
                <a:path w="1631417" h="1331830">
                  <a:moveTo>
                    <a:pt x="0" y="0"/>
                  </a:moveTo>
                  <a:lnTo>
                    <a:pt x="1631417" y="0"/>
                  </a:lnTo>
                  <a:lnTo>
                    <a:pt x="1631417" y="1331830"/>
                  </a:lnTo>
                  <a:lnTo>
                    <a:pt x="0" y="1331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9" name="Group 9"/>
            <p:cNvGrpSpPr/>
            <p:nvPr/>
          </p:nvGrpSpPr>
          <p:grpSpPr>
            <a:xfrm>
              <a:off x="0" y="4092758"/>
              <a:ext cx="5275722" cy="1185606"/>
              <a:chOff x="0" y="0"/>
              <a:chExt cx="940054" cy="21125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940054" cy="211257"/>
              </a:xfrm>
              <a:custGeom>
                <a:avLst/>
                <a:gdLst/>
                <a:ahLst/>
                <a:cxnLst/>
                <a:rect l="l" t="t" r="r" b="b"/>
                <a:pathLst>
                  <a:path w="940054" h="211257">
                    <a:moveTo>
                      <a:pt x="0" y="0"/>
                    </a:moveTo>
                    <a:lnTo>
                      <a:pt x="940054" y="0"/>
                    </a:lnTo>
                    <a:lnTo>
                      <a:pt x="940054" y="211257"/>
                    </a:lnTo>
                    <a:lnTo>
                      <a:pt x="0" y="21125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940054" cy="249357"/>
              </a:xfrm>
              <a:prstGeom prst="rect">
                <a:avLst/>
              </a:prstGeom>
            </p:spPr>
            <p:txBody>
              <a:bodyPr lIns="56315" tIns="56315" rIns="56315" bIns="56315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2" name="Freeform 12"/>
          <p:cNvSpPr/>
          <p:nvPr/>
        </p:nvSpPr>
        <p:spPr>
          <a:xfrm>
            <a:off x="2108747" y="3961320"/>
            <a:ext cx="5233741" cy="3486980"/>
          </a:xfrm>
          <a:custGeom>
            <a:avLst/>
            <a:gdLst/>
            <a:ahLst/>
            <a:cxnLst/>
            <a:rect l="l" t="t" r="r" b="b"/>
            <a:pathLst>
              <a:path w="5233741" h="3486980">
                <a:moveTo>
                  <a:pt x="0" y="0"/>
                </a:moveTo>
                <a:lnTo>
                  <a:pt x="5233741" y="0"/>
                </a:lnTo>
                <a:lnTo>
                  <a:pt x="5233741" y="3486980"/>
                </a:lnTo>
                <a:lnTo>
                  <a:pt x="0" y="34869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8700" y="1123950"/>
            <a:ext cx="13830682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Data Source: Binance API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38860" y="7400675"/>
            <a:ext cx="12010281" cy="504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4"/>
              </a:lnSpc>
              <a:spcBef>
                <a:spcPct val="0"/>
              </a:spcBef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binance_api_url = "https://api.binance.us/api/v3/ticker/24hr"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123950"/>
            <a:ext cx="10984319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Data Schema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575979" y="3655420"/>
            <a:ext cx="8212954" cy="5355781"/>
            <a:chOff x="0" y="0"/>
            <a:chExt cx="10950605" cy="7141041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0950605" cy="7141041"/>
              <a:chOff x="0" y="0"/>
              <a:chExt cx="1951233" cy="127242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951233" cy="1272426"/>
              </a:xfrm>
              <a:custGeom>
                <a:avLst/>
                <a:gdLst/>
                <a:ahLst/>
                <a:cxnLst/>
                <a:rect l="l" t="t" r="r" b="b"/>
                <a:pathLst>
                  <a:path w="1951233" h="1272426">
                    <a:moveTo>
                      <a:pt x="0" y="0"/>
                    </a:moveTo>
                    <a:lnTo>
                      <a:pt x="1951233" y="0"/>
                    </a:lnTo>
                    <a:lnTo>
                      <a:pt x="1951233" y="1272426"/>
                    </a:lnTo>
                    <a:lnTo>
                      <a:pt x="0" y="127242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1951233" cy="1320051"/>
              </a:xfrm>
              <a:prstGeom prst="rect">
                <a:avLst/>
              </a:prstGeom>
            </p:spPr>
            <p:txBody>
              <a:bodyPr lIns="56315" tIns="56315" rIns="56315" bIns="56315" rtlCol="0" anchor="ctr"/>
              <a:lstStyle/>
              <a:p>
                <a:pPr algn="l">
                  <a:lnSpc>
                    <a:spcPts val="3220"/>
                  </a:lnSpc>
                </a:pPr>
                <a:endParaRPr/>
              </a:p>
              <a:p>
                <a:pPr algn="l">
                  <a:lnSpc>
                    <a:spcPts val="3220"/>
                  </a:lnSpc>
                </a:pPr>
                <a:endParaRPr/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{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"symbol": "BTCUSDT",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"price": "50123.45",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"volume": "12345.678",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"priceChange": "125.67",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"priceChangePercent": "0.25",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"highPrice": "50200.00",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"lowPrice": "49900.50",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"quoteVolume": "619382049.89",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"timestamp": 1633034400000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}</a:t>
                </a:r>
              </a:p>
            </p:txBody>
          </p:sp>
        </p:grpSp>
        <p:sp>
          <p:nvSpPr>
            <p:cNvPr id="8" name="Freeform 8"/>
            <p:cNvSpPr/>
            <p:nvPr/>
          </p:nvSpPr>
          <p:spPr>
            <a:xfrm>
              <a:off x="0" y="0"/>
              <a:ext cx="1411029" cy="1151913"/>
            </a:xfrm>
            <a:custGeom>
              <a:avLst/>
              <a:gdLst/>
              <a:ahLst/>
              <a:cxnLst/>
              <a:rect l="l" t="t" r="r" b="b"/>
              <a:pathLst>
                <a:path w="1411029" h="1151913">
                  <a:moveTo>
                    <a:pt x="0" y="0"/>
                  </a:moveTo>
                  <a:lnTo>
                    <a:pt x="1411029" y="0"/>
                  </a:lnTo>
                  <a:lnTo>
                    <a:pt x="1411029" y="1151913"/>
                  </a:lnTo>
                  <a:lnTo>
                    <a:pt x="0" y="1151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3006363" y="8017944"/>
            <a:ext cx="5086015" cy="993257"/>
            <a:chOff x="0" y="0"/>
            <a:chExt cx="1208335" cy="2359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08335" cy="235978"/>
            </a:xfrm>
            <a:custGeom>
              <a:avLst/>
              <a:gdLst/>
              <a:ahLst/>
              <a:cxnLst/>
              <a:rect l="l" t="t" r="r" b="b"/>
              <a:pathLst>
                <a:path w="1208335" h="235978">
                  <a:moveTo>
                    <a:pt x="0" y="0"/>
                  </a:moveTo>
                  <a:lnTo>
                    <a:pt x="1208335" y="0"/>
                  </a:lnTo>
                  <a:lnTo>
                    <a:pt x="1208335" y="235978"/>
                  </a:lnTo>
                  <a:lnTo>
                    <a:pt x="0" y="2359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08335" cy="274078"/>
            </a:xfrm>
            <a:prstGeom prst="rect">
              <a:avLst/>
            </a:prstGeom>
          </p:spPr>
          <p:txBody>
            <a:bodyPr lIns="56315" tIns="56315" rIns="56315" bIns="56315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532399" y="3598270"/>
            <a:ext cx="4726901" cy="5415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sz="2574" b="1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symbol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STRING (Primary key)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sz="2574" b="1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price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DOUBLE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sz="2574" b="1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volume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DOUBLE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sz="2574" b="1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priceChange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DOUBLE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sz="2574" b="1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priceChangePercent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DOUBLE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sz="2574" b="1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highPrice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DOUBLE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sz="2574" b="1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lowPrice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DOUBLE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sz="2574" b="1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quoteVolume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DOUBLE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sz="2574" b="1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event_time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TIMESTAMP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sz="2574" b="1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processing_time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TIMESTAMP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sz="2574" b="1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DATE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sz="2574" b="1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hour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INT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807806" y="4588090"/>
            <a:ext cx="8867723" cy="5420396"/>
          </a:xfrm>
          <a:custGeom>
            <a:avLst/>
            <a:gdLst/>
            <a:ahLst/>
            <a:cxnLst/>
            <a:rect l="l" t="t" r="r" b="b"/>
            <a:pathLst>
              <a:path w="8867723" h="5420396">
                <a:moveTo>
                  <a:pt x="0" y="0"/>
                </a:moveTo>
                <a:lnTo>
                  <a:pt x="8867723" y="0"/>
                </a:lnTo>
                <a:lnTo>
                  <a:pt x="8867723" y="5420396"/>
                </a:lnTo>
                <a:lnTo>
                  <a:pt x="0" y="54203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19174" y="3196911"/>
            <a:ext cx="11715384" cy="2047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1568" lvl="1" indent="-325784" algn="l">
              <a:lnSpc>
                <a:spcPts val="4074"/>
              </a:lnSpc>
              <a:buFont typeface="Arial"/>
              <a:buChar char="•"/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Stream data pulled continuously.</a:t>
            </a:r>
          </a:p>
          <a:p>
            <a:pPr marL="651568" lvl="1" indent="-325784" algn="l">
              <a:lnSpc>
                <a:spcPts val="4074"/>
              </a:lnSpc>
              <a:buFont typeface="Arial"/>
              <a:buChar char="•"/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Azure Databricks handles updates at second/minute intervals.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3017" spc="181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1123950"/>
            <a:ext cx="13830682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Data Ingestion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36841" y="2306336"/>
            <a:ext cx="7557419" cy="7791177"/>
          </a:xfrm>
          <a:custGeom>
            <a:avLst/>
            <a:gdLst/>
            <a:ahLst/>
            <a:cxnLst/>
            <a:rect l="l" t="t" r="r" b="b"/>
            <a:pathLst>
              <a:path w="7557419" h="7791177">
                <a:moveTo>
                  <a:pt x="0" y="0"/>
                </a:moveTo>
                <a:lnTo>
                  <a:pt x="7557420" y="0"/>
                </a:lnTo>
                <a:lnTo>
                  <a:pt x="7557420" y="7791176"/>
                </a:lnTo>
                <a:lnTo>
                  <a:pt x="0" y="77911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03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3581571"/>
            <a:ext cx="8822626" cy="307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4"/>
              </a:lnSpc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Cleans &amp; transforms raw tick data.</a:t>
            </a:r>
          </a:p>
          <a:p>
            <a:pPr algn="l">
              <a:lnSpc>
                <a:spcPts val="4074"/>
              </a:lnSpc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Computes:</a:t>
            </a:r>
          </a:p>
          <a:p>
            <a:pPr marL="651568" lvl="1" indent="-325784" algn="l">
              <a:lnSpc>
                <a:spcPts val="4074"/>
              </a:lnSpc>
              <a:buFont typeface="Arial"/>
              <a:buChar char="•"/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Moving Averages</a:t>
            </a:r>
          </a:p>
          <a:p>
            <a:pPr marL="651568" lvl="1" indent="-325784" algn="l">
              <a:lnSpc>
                <a:spcPts val="4074"/>
              </a:lnSpc>
              <a:buFont typeface="Arial"/>
              <a:buChar char="•"/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Volatility Index</a:t>
            </a:r>
          </a:p>
          <a:p>
            <a:pPr marL="651568" lvl="1" indent="-325784" algn="l">
              <a:lnSpc>
                <a:spcPts val="4074"/>
              </a:lnSpc>
              <a:buFont typeface="Arial"/>
              <a:buChar char="•"/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% Price Changes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3017" spc="181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1123950"/>
            <a:ext cx="13830682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Processing Layer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1905" y="852897"/>
            <a:ext cx="17924190" cy="8581206"/>
          </a:xfrm>
          <a:custGeom>
            <a:avLst/>
            <a:gdLst/>
            <a:ahLst/>
            <a:cxnLst/>
            <a:rect l="l" t="t" r="r" b="b"/>
            <a:pathLst>
              <a:path w="17924190" h="8581206">
                <a:moveTo>
                  <a:pt x="0" y="0"/>
                </a:moveTo>
                <a:lnTo>
                  <a:pt x="17924190" y="0"/>
                </a:lnTo>
                <a:lnTo>
                  <a:pt x="17924190" y="8581206"/>
                </a:lnTo>
                <a:lnTo>
                  <a:pt x="0" y="85812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761392" y="3390594"/>
            <a:ext cx="11715384" cy="3467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9"/>
              </a:lnSpc>
              <a:spcBef>
                <a:spcPct val="0"/>
              </a:spcBef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Dashboa</a:t>
            </a: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rds include: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Candlestick charts (price movement)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Line graphs (moving averages)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Volume bar charts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Sentiment pie chart</a:t>
            </a:r>
          </a:p>
          <a:p>
            <a:pPr algn="l">
              <a:lnSpc>
                <a:spcPts val="3939"/>
              </a:lnSpc>
              <a:spcBef>
                <a:spcPct val="0"/>
              </a:spcBef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Auto-refresh enabled.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1123950"/>
            <a:ext cx="10984319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Visualization Layer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1028700"/>
            <a:ext cx="7148773" cy="3460791"/>
          </a:xfrm>
          <a:custGeom>
            <a:avLst/>
            <a:gdLst/>
            <a:ahLst/>
            <a:cxnLst/>
            <a:rect l="l" t="t" r="r" b="b"/>
            <a:pathLst>
              <a:path w="7148773" h="3460791">
                <a:moveTo>
                  <a:pt x="0" y="0"/>
                </a:moveTo>
                <a:lnTo>
                  <a:pt x="7148773" y="0"/>
                </a:lnTo>
                <a:lnTo>
                  <a:pt x="7148773" y="3460791"/>
                </a:lnTo>
                <a:lnTo>
                  <a:pt x="0" y="34607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3884" r="-92867" b="-201803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038240" y="1028700"/>
            <a:ext cx="7156332" cy="3460791"/>
          </a:xfrm>
          <a:custGeom>
            <a:avLst/>
            <a:gdLst/>
            <a:ahLst/>
            <a:cxnLst/>
            <a:rect l="l" t="t" r="r" b="b"/>
            <a:pathLst>
              <a:path w="7156332" h="3460791">
                <a:moveTo>
                  <a:pt x="0" y="0"/>
                </a:moveTo>
                <a:lnTo>
                  <a:pt x="7156332" y="0"/>
                </a:lnTo>
                <a:lnTo>
                  <a:pt x="7156332" y="3460791"/>
                </a:lnTo>
                <a:lnTo>
                  <a:pt x="0" y="34607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2663" t="-23884" b="-201803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5854929"/>
            <a:ext cx="7148773" cy="3357424"/>
          </a:xfrm>
          <a:custGeom>
            <a:avLst/>
            <a:gdLst/>
            <a:ahLst/>
            <a:cxnLst/>
            <a:rect l="l" t="t" r="r" b="b"/>
            <a:pathLst>
              <a:path w="7148773" h="3357424">
                <a:moveTo>
                  <a:pt x="0" y="0"/>
                </a:moveTo>
                <a:lnTo>
                  <a:pt x="7148773" y="0"/>
                </a:lnTo>
                <a:lnTo>
                  <a:pt x="7148773" y="3357424"/>
                </a:lnTo>
                <a:lnTo>
                  <a:pt x="0" y="33574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242" t="-227499" r="-88207" b="-9230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973512" y="5854929"/>
            <a:ext cx="7285788" cy="3357424"/>
          </a:xfrm>
          <a:custGeom>
            <a:avLst/>
            <a:gdLst/>
            <a:ahLst/>
            <a:cxnLst/>
            <a:rect l="l" t="t" r="r" b="b"/>
            <a:pathLst>
              <a:path w="7285788" h="3357424">
                <a:moveTo>
                  <a:pt x="0" y="0"/>
                </a:moveTo>
                <a:lnTo>
                  <a:pt x="7285788" y="0"/>
                </a:lnTo>
                <a:lnTo>
                  <a:pt x="7285788" y="3357424"/>
                </a:lnTo>
                <a:lnTo>
                  <a:pt x="0" y="33574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1580" t="-249172" b="-8435"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094453" y="3657364"/>
            <a:ext cx="1444769" cy="762116"/>
          </a:xfrm>
          <a:custGeom>
            <a:avLst/>
            <a:gdLst/>
            <a:ahLst/>
            <a:cxnLst/>
            <a:rect l="l" t="t" r="r" b="b"/>
            <a:pathLst>
              <a:path w="1444769" h="762116">
                <a:moveTo>
                  <a:pt x="0" y="0"/>
                </a:moveTo>
                <a:lnTo>
                  <a:pt x="1444769" y="0"/>
                </a:lnTo>
                <a:lnTo>
                  <a:pt x="1444769" y="762116"/>
                </a:lnTo>
                <a:lnTo>
                  <a:pt x="0" y="7621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782833" y="5143500"/>
            <a:ext cx="1232064" cy="1354637"/>
          </a:xfrm>
          <a:custGeom>
            <a:avLst/>
            <a:gdLst/>
            <a:ahLst/>
            <a:cxnLst/>
            <a:rect l="l" t="t" r="r" b="b"/>
            <a:pathLst>
              <a:path w="1232064" h="1354637">
                <a:moveTo>
                  <a:pt x="0" y="0"/>
                </a:moveTo>
                <a:lnTo>
                  <a:pt x="1232064" y="0"/>
                </a:lnTo>
                <a:lnTo>
                  <a:pt x="1232064" y="1354637"/>
                </a:lnTo>
                <a:lnTo>
                  <a:pt x="0" y="1354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247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241215" y="6823436"/>
            <a:ext cx="853238" cy="1148341"/>
          </a:xfrm>
          <a:custGeom>
            <a:avLst/>
            <a:gdLst/>
            <a:ahLst/>
            <a:cxnLst/>
            <a:rect l="l" t="t" r="r" b="b"/>
            <a:pathLst>
              <a:path w="853238" h="1148341">
                <a:moveTo>
                  <a:pt x="0" y="0"/>
                </a:moveTo>
                <a:lnTo>
                  <a:pt x="853238" y="0"/>
                </a:lnTo>
                <a:lnTo>
                  <a:pt x="853238" y="1148340"/>
                </a:lnTo>
                <a:lnTo>
                  <a:pt x="0" y="11483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8569" r="-77785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219603" y="4000322"/>
            <a:ext cx="11795294" cy="445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atabricks Workspace – streaming jobs.</a:t>
            </a:r>
          </a:p>
          <a:p>
            <a:pPr algn="l">
              <a:lnSpc>
                <a:spcPts val="3939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3939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Storage (Delta Lake) – persistent storage</a:t>
            </a:r>
          </a:p>
          <a:p>
            <a:pPr algn="l">
              <a:lnSpc>
                <a:spcPts val="3939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3939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Azure Monitor – performance metrics.</a:t>
            </a:r>
          </a:p>
          <a:p>
            <a:pPr algn="l">
              <a:lnSpc>
                <a:spcPts val="3939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1123950"/>
            <a:ext cx="10984319" cy="2152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Azure Resources Used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406160" y="5431510"/>
            <a:ext cx="3694237" cy="1495012"/>
          </a:xfrm>
          <a:custGeom>
            <a:avLst/>
            <a:gdLst/>
            <a:ahLst/>
            <a:cxnLst/>
            <a:rect l="l" t="t" r="r" b="b"/>
            <a:pathLst>
              <a:path w="3694237" h="1495012">
                <a:moveTo>
                  <a:pt x="0" y="0"/>
                </a:moveTo>
                <a:lnTo>
                  <a:pt x="3694237" y="0"/>
                </a:lnTo>
                <a:lnTo>
                  <a:pt x="3694237" y="1495011"/>
                </a:lnTo>
                <a:lnTo>
                  <a:pt x="0" y="14950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68429" y="4046083"/>
            <a:ext cx="3725377" cy="1241792"/>
          </a:xfrm>
          <a:custGeom>
            <a:avLst/>
            <a:gdLst/>
            <a:ahLst/>
            <a:cxnLst/>
            <a:rect l="l" t="t" r="r" b="b"/>
            <a:pathLst>
              <a:path w="3725377" h="1241792">
                <a:moveTo>
                  <a:pt x="0" y="0"/>
                </a:moveTo>
                <a:lnTo>
                  <a:pt x="3725377" y="0"/>
                </a:lnTo>
                <a:lnTo>
                  <a:pt x="3725377" y="1241792"/>
                </a:lnTo>
                <a:lnTo>
                  <a:pt x="0" y="1241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28442" y="2506878"/>
            <a:ext cx="1343911" cy="1219866"/>
          </a:xfrm>
          <a:custGeom>
            <a:avLst/>
            <a:gdLst/>
            <a:ahLst/>
            <a:cxnLst/>
            <a:rect l="l" t="t" r="r" b="b"/>
            <a:pathLst>
              <a:path w="1343911" h="1219866">
                <a:moveTo>
                  <a:pt x="0" y="0"/>
                </a:moveTo>
                <a:lnTo>
                  <a:pt x="1343911" y="0"/>
                </a:lnTo>
                <a:lnTo>
                  <a:pt x="1343911" y="1219866"/>
                </a:lnTo>
                <a:lnTo>
                  <a:pt x="0" y="12198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024" r="-33870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083579" y="7069396"/>
            <a:ext cx="1084850" cy="1148443"/>
          </a:xfrm>
          <a:custGeom>
            <a:avLst/>
            <a:gdLst/>
            <a:ahLst/>
            <a:cxnLst/>
            <a:rect l="l" t="t" r="r" b="b"/>
            <a:pathLst>
              <a:path w="1084850" h="1148443">
                <a:moveTo>
                  <a:pt x="0" y="0"/>
                </a:moveTo>
                <a:lnTo>
                  <a:pt x="1084850" y="0"/>
                </a:lnTo>
                <a:lnTo>
                  <a:pt x="1084850" y="1148444"/>
                </a:lnTo>
                <a:lnTo>
                  <a:pt x="0" y="11484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4036" t="-39361" r="-41729" b="-36118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535420" y="8580234"/>
            <a:ext cx="870740" cy="1074355"/>
          </a:xfrm>
          <a:custGeom>
            <a:avLst/>
            <a:gdLst/>
            <a:ahLst/>
            <a:cxnLst/>
            <a:rect l="l" t="t" r="r" b="b"/>
            <a:pathLst>
              <a:path w="870740" h="1074355">
                <a:moveTo>
                  <a:pt x="0" y="0"/>
                </a:moveTo>
                <a:lnTo>
                  <a:pt x="870740" y="0"/>
                </a:lnTo>
                <a:lnTo>
                  <a:pt x="870740" y="1074355"/>
                </a:lnTo>
                <a:lnTo>
                  <a:pt x="0" y="10743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6762" r="-6789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53045" y="4234005"/>
            <a:ext cx="11715384" cy="2972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Az</a:t>
            </a: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ure Databricks, PySpark, Spark SQL.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Matplotlib / Plotly.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Pandas.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Binance API.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Delta Lake.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1123950"/>
            <a:ext cx="10984319" cy="2152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Tools &amp; Technologies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01622" y="-767350"/>
            <a:ext cx="22013892" cy="12354774"/>
          </a:xfrm>
          <a:custGeom>
            <a:avLst/>
            <a:gdLst/>
            <a:ahLst/>
            <a:cxnLst/>
            <a:rect l="l" t="t" r="r" b="b"/>
            <a:pathLst>
              <a:path w="22013892" h="12354774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467" b="-946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025264" y="4230767"/>
            <a:ext cx="13066873" cy="165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18"/>
              </a:lnSpc>
            </a:pPr>
            <a:r>
              <a:rPr lang="en-US" sz="12998" b="1" spc="-701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IMPLEMENTATION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94134" y="4152128"/>
            <a:ext cx="11715384" cy="2972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</a:t>
            </a: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Ingestion → Binance API into Databricks.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Stream Processing → PySpark transformations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Storage → Delta Lake for historical analysis.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Analytics → Moving averages, volume spikes, volatility.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Visualization → Real-time dashboard.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837283" y="2260853"/>
            <a:ext cx="10984319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How It Works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94134" y="4152128"/>
            <a:ext cx="11715384" cy="2972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Set</a:t>
            </a: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up Databricks workspace &amp; cluster.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Develop ingestion pipeline.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Process data with PySpark SQL.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Create visualizations.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Enable auto-refresh &amp; monitoring.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837283" y="2260853"/>
            <a:ext cx="10984319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Execution Flow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94134" y="4142603"/>
            <a:ext cx="11715384" cy="1018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Create </a:t>
            </a:r>
            <a:r>
              <a:rPr lang="en-US" sz="3017" u="none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account → Resource Group → Event Hub → Databricks Workspace.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37283" y="2260853"/>
            <a:ext cx="10984319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Azure Setup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94134" y="4152128"/>
            <a:ext cx="11715384" cy="1981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reate cluster.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Install Python libraries.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Create notebooks.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837283" y="2260853"/>
            <a:ext cx="10984319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Databricks Setup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94134" y="4152128"/>
            <a:ext cx="11715384" cy="1981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Fetch Bin</a:t>
            </a: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ance Data (Python).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Process with PySpark.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Build dashboard graphs.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837283" y="2260853"/>
            <a:ext cx="15286342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Data Fetching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01622" y="-767350"/>
            <a:ext cx="22013892" cy="12354774"/>
          </a:xfrm>
          <a:custGeom>
            <a:avLst/>
            <a:gdLst/>
            <a:ahLst/>
            <a:cxnLst/>
            <a:rect l="l" t="t" r="r" b="b"/>
            <a:pathLst>
              <a:path w="22013892" h="12354774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467" b="-946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025264" y="3540205"/>
            <a:ext cx="13066873" cy="3032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18"/>
              </a:lnSpc>
            </a:pPr>
            <a:r>
              <a:rPr lang="en-US" sz="12998" b="1" spc="-701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RESULTS &amp; ANALYSIS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94134" y="4152128"/>
            <a:ext cx="11715384" cy="2477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Price mo</a:t>
            </a: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nitoring (color-coded).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Performance analysis (gainers/losers).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Volume analysis.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Volatility &amp; sentiment tracking.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837283" y="2260853"/>
            <a:ext cx="15286342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 Results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94134" y="4152128"/>
            <a:ext cx="11715384" cy="3963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Azure e</a:t>
            </a: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nvironment setup.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API integration.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PySpark processing.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Delta Lake storage.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Dashboard development.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Spark SQL queries.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Automation.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837283" y="2260853"/>
            <a:ext cx="15286342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Tasks Performed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100476" y="1876565"/>
            <a:ext cx="10087048" cy="8191060"/>
          </a:xfrm>
          <a:custGeom>
            <a:avLst/>
            <a:gdLst/>
            <a:ahLst/>
            <a:cxnLst/>
            <a:rect l="l" t="t" r="r" b="b"/>
            <a:pathLst>
              <a:path w="10087048" h="8191060">
                <a:moveTo>
                  <a:pt x="0" y="0"/>
                </a:moveTo>
                <a:lnTo>
                  <a:pt x="10087048" y="0"/>
                </a:lnTo>
                <a:lnTo>
                  <a:pt x="10087048" y="8191060"/>
                </a:lnTo>
                <a:lnTo>
                  <a:pt x="0" y="81910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36" b="-336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46522" y="502308"/>
            <a:ext cx="10484055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Sample Dashboard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94134" y="4152128"/>
            <a:ext cx="11715384" cy="2972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Cluster auto-scaling.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Delta Lake caching.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API connection pooling.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Visualization incremental updates.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Cost optimization via auto-termination.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837283" y="2260853"/>
            <a:ext cx="15286342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Optimization Strategies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94134" y="4152128"/>
            <a:ext cx="11715384" cy="2477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Achieved rea</a:t>
            </a: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l-time analytics dashboard.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Demonstrated Azure + Databricks + PySpark integration.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Scalable design, reliable architecture.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Provides actionable insights for crypto trading.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837283" y="2260853"/>
            <a:ext cx="15286342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D7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3182017" y="3400568"/>
            <a:ext cx="11923966" cy="2888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60"/>
              </a:lnSpc>
            </a:pPr>
            <a:r>
              <a:rPr lang="en-US" sz="12023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 very much!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41335" y="7065764"/>
            <a:ext cx="6617965" cy="886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45"/>
              </a:lnSpc>
            </a:pPr>
            <a:r>
              <a:rPr lang="en-US" sz="3445" spc="-68" dirty="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PRESENTED BY :</a:t>
            </a:r>
          </a:p>
          <a:p>
            <a:pPr algn="just">
              <a:lnSpc>
                <a:spcPts val="3445"/>
              </a:lnSpc>
            </a:pPr>
            <a:r>
              <a:rPr lang="en-US" sz="3445" spc="-68" dirty="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N S YOGESHWAR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702</Words>
  <Application>Microsoft Office PowerPoint</Application>
  <PresentationFormat>Custom</PresentationFormat>
  <Paragraphs>161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Poppins Semi-Bold</vt:lpstr>
      <vt:lpstr>Calibri</vt:lpstr>
      <vt:lpstr>Arial</vt:lpstr>
      <vt:lpstr>Open Sans Light</vt:lpstr>
      <vt:lpstr>Poppins Bold</vt:lpstr>
      <vt:lpstr>DM Sans</vt:lpstr>
      <vt:lpstr>Poppins</vt:lpstr>
      <vt:lpstr>Open Sans Bold</vt:lpstr>
      <vt:lpstr>DM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Analytics Dashboard</dc:title>
  <cp:lastModifiedBy>Yogeshwar N S</cp:lastModifiedBy>
  <cp:revision>2</cp:revision>
  <dcterms:created xsi:type="dcterms:W3CDTF">2006-08-16T00:00:00Z</dcterms:created>
  <dcterms:modified xsi:type="dcterms:W3CDTF">2025-08-29T11:57:24Z</dcterms:modified>
  <dc:identifier>DAGxYZJClqs</dc:identifier>
</cp:coreProperties>
</file>